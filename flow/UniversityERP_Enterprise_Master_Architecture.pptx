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411480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ENTERPRISE CAMPUS OPERATING SYSTEM (CAMPUS 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UniversityERP</a:t>
            </a:r>
          </a:p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Unified Higher Education Operating System &amp; Enterprise Architecture Blueprint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Authoritative 20-Year Principal Enterprise Architect Blueprint • Next-Gen Cloud Native Campus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474720"/>
            <a:ext cx="1810511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3474720"/>
            <a:ext cx="1810511" cy="36576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3547872"/>
            <a:ext cx="166420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14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Domain Modules</a:t>
            </a:r>
          </a:p>
          <a:p>
            <a:pPr algn="ctr">
              <a:defRPr sz="800">
                <a:solidFill>
                  <a:srgbClr val="94A3B8"/>
                </a:solidFill>
                <a:latin typeface="Arial"/>
              </a:defRPr>
            </a:pPr>
            <a:r>
              <a:t>01 Auth to 14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1" y="3474720"/>
            <a:ext cx="1810511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82111" y="3474720"/>
            <a:ext cx="1810511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5263" y="3547872"/>
            <a:ext cx="166420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24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System Roles</a:t>
            </a:r>
          </a:p>
          <a:p>
            <a:pPr algn="ctr">
              <a:defRPr sz="800">
                <a:solidFill>
                  <a:srgbClr val="94A3B8"/>
                </a:solidFill>
                <a:latin typeface="Arial"/>
              </a:defRPr>
            </a:pPr>
            <a:r>
              <a:t>SuperAdmin to Alumni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3" y="3474720"/>
            <a:ext cx="1810511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3" y="3474720"/>
            <a:ext cx="1810511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5" y="3547872"/>
            <a:ext cx="166420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rial"/>
              </a:defRPr>
            </a:pPr>
            <a:r>
              <a:t>138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Prisma Models</a:t>
            </a:r>
          </a:p>
          <a:p>
            <a:pPr algn="ctr">
              <a:defRPr sz="800">
                <a:solidFill>
                  <a:srgbClr val="94A3B8"/>
                </a:solidFill>
                <a:latin typeface="Arial"/>
              </a:defRPr>
            </a:pPr>
            <a:r>
              <a:t>10 Domain Relational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5" y="3474720"/>
            <a:ext cx="1810511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68895" y="3474720"/>
            <a:ext cx="1810511" cy="365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7" y="3547872"/>
            <a:ext cx="166420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Arial"/>
              </a:defRPr>
            </a:pPr>
            <a:r>
              <a:t>71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API Controllers</a:t>
            </a:r>
          </a:p>
          <a:p>
            <a:pPr algn="ctr">
              <a:defRPr sz="800">
                <a:solidFill>
                  <a:srgbClr val="94A3B8"/>
                </a:solidFill>
                <a:latin typeface="Arial"/>
              </a:defRPr>
            </a:pPr>
            <a:r>
              <a:t>43 Modular Backend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3474720"/>
            <a:ext cx="1810511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62288" y="3474720"/>
            <a:ext cx="1810511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547872"/>
            <a:ext cx="166420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43F5E"/>
                </a:solidFill>
                <a:latin typeface="Arial"/>
              </a:defRPr>
            </a:pPr>
            <a:r>
              <a:t>49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Frontend Pages</a:t>
            </a:r>
          </a:p>
          <a:p>
            <a:pPr algn="ctr">
              <a:defRPr sz="800">
                <a:solidFill>
                  <a:srgbClr val="94A3B8"/>
                </a:solidFill>
                <a:latin typeface="Arial"/>
              </a:defRPr>
            </a:pPr>
            <a:r>
              <a:t>React 18 SPA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634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CORE TECHNOLOGIES &amp; STATUTORY FOUNDATION</a:t>
            </a:r>
          </a:p>
          <a:p>
            <a:pPr>
              <a:defRPr sz="1050">
                <a:solidFill>
                  <a:srgbClr val="38BDF8"/>
                </a:solidFill>
                <a:latin typeface="Arial"/>
              </a:defRPr>
            </a:pPr>
            <a:r>
              <a:t>React 18 • Vite • Tailwind CSS • NestJS 10 • TypeScript • PostgreSQL 16 • Prisma ORM • Redis 7 • Razorpay • TRAI DLT • DigiLocker / ABC / APAAR • Biometrics IoT •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Produced by Principal Enterprise Architect | National Education Policy (NEP 2020) &amp; NAAC / NBA / NIRF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EXECUTIVE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Executive Summary: The Unified Campus Paradigm Shift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Transforming fragmented point solutions into a cohesive, high-performance institutional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1. The Institutional Dilemma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Challenges of Legacy University ERPs</a:t>
            </a:r>
          </a:p>
          <a:p>
            <a:r>
              <a:rPr b="1" sz="950">
                <a:solidFill>
                  <a:srgbClr val="FFFFFF"/>
                </a:solidFill>
              </a:rPr>
              <a:t>• Legacy Point Solutions: </a:t>
            </a:r>
            <a:r>
              <a:rPr sz="950">
                <a:solidFill>
                  <a:srgbClr val="E2E8F0"/>
                </a:solidFill>
              </a:rPr>
              <a:t>Unconnected silos for admissions, LMS, exams, and accounts causing data discrepancies.</a:t>
            </a:r>
          </a:p>
          <a:p>
            <a:r>
              <a:rPr b="1" sz="950">
                <a:solidFill>
                  <a:srgbClr val="FFFFFF"/>
                </a:solidFill>
              </a:rPr>
              <a:t>• Manual Friction &amp; Lag: </a:t>
            </a:r>
            <a:r>
              <a:rPr sz="950">
                <a:solidFill>
                  <a:srgbClr val="E2E8F0"/>
                </a:solidFill>
              </a:rPr>
              <a:t>Spreadsheets, manual paper registers, and human reconciliation leading to revenue leakage.</a:t>
            </a:r>
          </a:p>
          <a:p>
            <a:r>
              <a:rPr b="1" sz="950">
                <a:solidFill>
                  <a:srgbClr val="FFFFFF"/>
                </a:solidFill>
              </a:rPr>
              <a:t>• Compliance Vulnerability: </a:t>
            </a:r>
            <a:r>
              <a:rPr sz="950">
                <a:solidFill>
                  <a:srgbClr val="E2E8F0"/>
                </a:solidFill>
              </a:rPr>
              <a:t>Difficulty assembling verified evidence for NAAC SSR, NBA OBE, NIRF, and AICTE/UGC.</a:t>
            </a:r>
          </a:p>
          <a:p>
            <a:r>
              <a:rPr b="1" sz="950">
                <a:solidFill>
                  <a:srgbClr val="FFFFFF"/>
                </a:solidFill>
              </a:rPr>
              <a:t>• Astronomical TCO: </a:t>
            </a:r>
            <a:r>
              <a:rPr sz="950">
                <a:solidFill>
                  <a:srgbClr val="E2E8F0"/>
                </a:solidFill>
              </a:rPr>
              <a:t>Exorbitant licensing, implementation fees, and rigid lock-in of legacy Tier-1 ERP suites.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2. The UniversityERP Solution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Next-Generation Operating Architecture</a:t>
            </a:r>
          </a:p>
          <a:p>
            <a:r>
              <a:rPr b="1" sz="950">
                <a:solidFill>
                  <a:srgbClr val="FFFFFF"/>
                </a:solidFill>
              </a:rPr>
              <a:t>• Unified System of Record: </a:t>
            </a:r>
            <a:r>
              <a:rPr sz="950">
                <a:solidFill>
                  <a:srgbClr val="E2E8F0"/>
                </a:solidFill>
              </a:rPr>
              <a:t>All academic, financial, operational, and student data unified in a single relational schema.</a:t>
            </a:r>
          </a:p>
          <a:p>
            <a:r>
              <a:rPr b="1" sz="950">
                <a:solidFill>
                  <a:srgbClr val="FFFFFF"/>
                </a:solidFill>
              </a:rPr>
              <a:t>• Automated Workflows: </a:t>
            </a:r>
            <a:r>
              <a:rPr sz="950">
                <a:solidFill>
                  <a:srgbClr val="E2E8F0"/>
                </a:solidFill>
              </a:rPr>
              <a:t>Multi-tier approval chains, SLA enforcement, and automated trigger-based notifications.</a:t>
            </a:r>
          </a:p>
          <a:p>
            <a:r>
              <a:rPr b="1" sz="950">
                <a:solidFill>
                  <a:srgbClr val="FFFFFF"/>
                </a:solidFill>
              </a:rPr>
              <a:t>• Statutory First Design: </a:t>
            </a:r>
            <a:r>
              <a:rPr sz="950">
                <a:solidFill>
                  <a:srgbClr val="E2E8F0"/>
                </a:solidFill>
              </a:rPr>
              <a:t>Native alignment with NEP 2020, CBCS credits, APAAR/ABC syncing, and TRAI DLT compliance.</a:t>
            </a:r>
          </a:p>
          <a:p>
            <a:r>
              <a:rPr b="1" sz="950">
                <a:solidFill>
                  <a:srgbClr val="FFFFFF"/>
                </a:solidFill>
              </a:rPr>
              <a:t>• Zero Vendor Lock-in: </a:t>
            </a:r>
            <a:r>
              <a:rPr sz="950">
                <a:solidFill>
                  <a:srgbClr val="E2E8F0"/>
                </a:solidFill>
              </a:rPr>
              <a:t>Clean modern stack (TypeScript, NestJS, React, PostgreSQL) designed for long-term self-sovereignty.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3. Measurable Strategic ROI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Quantifiable Institutional Value</a:t>
            </a:r>
          </a:p>
          <a:p>
            <a:r>
              <a:rPr b="1" sz="950">
                <a:solidFill>
                  <a:srgbClr val="FFFFFF"/>
                </a:solidFill>
              </a:rPr>
              <a:t>• 65% Cost Reduction: </a:t>
            </a:r>
            <a:r>
              <a:rPr sz="950">
                <a:solidFill>
                  <a:srgbClr val="E2E8F0"/>
                </a:solidFill>
              </a:rPr>
              <a:t>Significant drop in operational administrative overhead and paper processing costs.</a:t>
            </a:r>
          </a:p>
          <a:p>
            <a:r>
              <a:rPr b="1" sz="950">
                <a:solidFill>
                  <a:srgbClr val="FFFFFF"/>
                </a:solidFill>
              </a:rPr>
              <a:t>• 100% Revenue Integrity: </a:t>
            </a:r>
            <a:r>
              <a:rPr sz="950">
                <a:solidFill>
                  <a:srgbClr val="E2E8F0"/>
                </a:solidFill>
              </a:rPr>
              <a:t>Zero fee leakage via automated billing, Razorpay dual verification, and double-entry ledger.</a:t>
            </a:r>
          </a:p>
          <a:p>
            <a:r>
              <a:rPr b="1" sz="950">
                <a:solidFill>
                  <a:srgbClr val="FFFFFF"/>
                </a:solidFill>
              </a:rPr>
              <a:t>• 4x Faster Accreditation: </a:t>
            </a:r>
            <a:r>
              <a:rPr sz="950">
                <a:solidFill>
                  <a:srgbClr val="E2E8F0"/>
                </a:solidFill>
              </a:rPr>
              <a:t>Instant quantitative data compilation for NAAC SSR Criteria 1-7 and NBA CO-PO attainment.</a:t>
            </a:r>
          </a:p>
          <a:p>
            <a:r>
              <a:rPr b="1" sz="950">
                <a:solidFill>
                  <a:srgbClr val="FFFFFF"/>
                </a:solidFill>
              </a:rPr>
              <a:t>• 99.95% Availability: </a:t>
            </a:r>
            <a:r>
              <a:rPr sz="950">
                <a:solidFill>
                  <a:srgbClr val="E2E8F0"/>
                </a:solidFill>
              </a:rPr>
              <a:t>Stateless horizontal scaling with Redis caching and automated multi-AZ PostgreSQL replication.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System Architecture &amp; C4 Technical Topology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Microservices-ready modular monolith with strict layer decoupling, zero-trust security, and high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3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51460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Frontend Layer (Client)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49 Administrative &amp; Portal Pages</a:t>
            </a:r>
          </a:p>
          <a:p>
            <a:r>
              <a:rPr b="1" sz="950">
                <a:solidFill>
                  <a:srgbClr val="FFFFFF"/>
                </a:solidFill>
              </a:rPr>
              <a:t>• React 18 SPA Suite: </a:t>
            </a:r>
            <a:r>
              <a:rPr sz="950">
                <a:solidFill>
                  <a:srgbClr val="E2E8F0"/>
                </a:solidFill>
              </a:rPr>
              <a:t>Vite build tool, dynamic component routing, role-scoped sidebar navigation.</a:t>
            </a:r>
          </a:p>
          <a:p>
            <a:r>
              <a:rPr b="1" sz="950">
                <a:solidFill>
                  <a:srgbClr val="FFFFFF"/>
                </a:solidFill>
              </a:rPr>
              <a:t>• State &amp; Interaction: </a:t>
            </a:r>
            <a:r>
              <a:rPr sz="950">
                <a:solidFill>
                  <a:srgbClr val="E2E8F0"/>
                </a:solidFill>
              </a:rPr>
              <a:t>React hooks, optimistic UI updates, responsive Tailwind CSS grid layouts.</a:t>
            </a:r>
          </a:p>
          <a:p>
            <a:r>
              <a:rPr b="1" sz="950">
                <a:solidFill>
                  <a:srgbClr val="FFFFFF"/>
                </a:solidFill>
              </a:rPr>
              <a:t>• Visual Engines: </a:t>
            </a:r>
            <a:r>
              <a:rPr sz="950">
                <a:solidFill>
                  <a:srgbClr val="E2E8F0"/>
                </a:solidFill>
              </a:rPr>
              <a:t>Interactive Canvas Document Designer, drag-and-drop timetable, seat matrix.</a:t>
            </a:r>
          </a:p>
          <a:p>
            <a:r>
              <a:rPr b="1" sz="950">
                <a:solidFill>
                  <a:srgbClr val="FFFFFF"/>
                </a:solidFill>
              </a:rPr>
              <a:t>• Client Security: </a:t>
            </a:r>
            <a:r>
              <a:rPr sz="950">
                <a:solidFill>
                  <a:srgbClr val="E2E8F0"/>
                </a:solidFill>
              </a:rPr>
              <a:t>Zero storage of sensitive credentials, HttpOnly auth tokens, XSS/CSRF mitigation.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73736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Application Layer (Core API)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71 Controllers, 43 Modules</a:t>
            </a:r>
          </a:p>
          <a:p>
            <a:r>
              <a:rPr b="1" sz="950">
                <a:solidFill>
                  <a:srgbClr val="FFFFFF"/>
                </a:solidFill>
              </a:rPr>
              <a:t>• NestJS 10 Framework: </a:t>
            </a:r>
            <a:r>
              <a:rPr sz="950">
                <a:solidFill>
                  <a:srgbClr val="E2E8F0"/>
                </a:solidFill>
              </a:rPr>
              <a:t>TypeScript modular monolith structured into 43 isolated domain modules.</a:t>
            </a:r>
          </a:p>
          <a:p>
            <a:r>
              <a:rPr b="1" sz="950">
                <a:solidFill>
                  <a:srgbClr val="FFFFFF"/>
                </a:solidFill>
              </a:rPr>
              <a:t>• Robust Controller Layer: </a:t>
            </a:r>
            <a:r>
              <a:rPr sz="950">
                <a:solidFill>
                  <a:srgbClr val="E2E8F0"/>
                </a:solidFill>
              </a:rPr>
              <a:t>71 Controllers exposing RESTful endpoints with OpenAPI/Swagger specifications.</a:t>
            </a:r>
          </a:p>
          <a:p>
            <a:r>
              <a:rPr b="1" sz="950">
                <a:solidFill>
                  <a:srgbClr val="FFFFFF"/>
                </a:solidFill>
              </a:rPr>
              <a:t>• Validation &amp; Guards: </a:t>
            </a:r>
            <a:r>
              <a:rPr sz="950">
                <a:solidFill>
                  <a:srgbClr val="E2E8F0"/>
                </a:solidFill>
              </a:rPr>
              <a:t>Class-validator DTO pipes, JWT authentication, RBAC effective union guards.</a:t>
            </a:r>
          </a:p>
          <a:p>
            <a:r>
              <a:rPr b="1" sz="950">
                <a:solidFill>
                  <a:srgbClr val="FFFFFF"/>
                </a:solidFill>
              </a:rPr>
              <a:t>• Interceptors &amp; Filters: </a:t>
            </a:r>
            <a:r>
              <a:rPr sz="950">
                <a:solidFill>
                  <a:srgbClr val="E2E8F0"/>
                </a:solidFill>
              </a:rPr>
              <a:t>Global exception handling, response formatting, and tamper-proof audit logging.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Data &amp; Persistence Layer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138 Models, Redis &amp; S3</a:t>
            </a:r>
          </a:p>
          <a:p>
            <a:r>
              <a:rPr b="1" sz="950">
                <a:solidFill>
                  <a:srgbClr val="FFFFFF"/>
                </a:solidFill>
              </a:rPr>
              <a:t>• PostgreSQL 16 Engine: </a:t>
            </a:r>
            <a:r>
              <a:rPr sz="950">
                <a:solidFill>
                  <a:srgbClr val="E2E8F0"/>
                </a:solidFill>
              </a:rPr>
              <a:t>ACID compliant relational store hosting 138 Prisma models across 10 clusters.</a:t>
            </a:r>
          </a:p>
          <a:p>
            <a:r>
              <a:rPr b="1" sz="950">
                <a:solidFill>
                  <a:srgbClr val="FFFFFF"/>
                </a:solidFill>
              </a:rPr>
              <a:t>• Prisma 5.x ORM: </a:t>
            </a:r>
            <a:r>
              <a:rPr sz="950">
                <a:solidFill>
                  <a:srgbClr val="E2E8F0"/>
                </a:solidFill>
              </a:rPr>
              <a:t>Type-safe database client, foreign key enforcement, connection pooling.</a:t>
            </a:r>
          </a:p>
          <a:p>
            <a:r>
              <a:rPr b="1" sz="950">
                <a:solidFill>
                  <a:srgbClr val="FFFFFF"/>
                </a:solidFill>
              </a:rPr>
              <a:t>• Redis 7 In-Memory Cache: </a:t>
            </a:r>
            <a:r>
              <a:rPr sz="950">
                <a:solidFill>
                  <a:srgbClr val="E2E8F0"/>
                </a:solidFill>
              </a:rPr>
              <a:t>Session state, rate limiting counters, timetable and query result caching.</a:t>
            </a:r>
          </a:p>
          <a:p>
            <a:r>
              <a:rPr b="1" sz="950">
                <a:solidFill>
                  <a:srgbClr val="FFFFFF"/>
                </a:solidFill>
              </a:rPr>
              <a:t>• Transaction Boundaries: </a:t>
            </a:r>
            <a:r>
              <a:rPr sz="950">
                <a:solidFill>
                  <a:srgbClr val="E2E8F0"/>
                </a:solidFill>
              </a:rPr>
              <a:t>Atomic rollback guarantees using prisma.$transaction on all financial 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73736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Statutory Gateways Layer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External Integrations &amp; IoT</a:t>
            </a:r>
          </a:p>
          <a:p>
            <a:r>
              <a:rPr b="1" sz="950">
                <a:solidFill>
                  <a:srgbClr val="FFFFFF"/>
                </a:solidFill>
              </a:rPr>
              <a:t>• FinTech Gateway: </a:t>
            </a:r>
            <a:r>
              <a:rPr sz="950">
                <a:solidFill>
                  <a:srgbClr val="E2E8F0"/>
                </a:solidFill>
              </a:rPr>
              <a:t>Razorpay payments, subscriptions, refunds, and HMAC-SHA256 webhooks.</a:t>
            </a:r>
          </a:p>
          <a:p>
            <a:r>
              <a:rPr b="1" sz="950">
                <a:solidFill>
                  <a:srgbClr val="FFFFFF"/>
                </a:solidFill>
              </a:rPr>
              <a:t>• Telecom (TRAI DLT): </a:t>
            </a:r>
            <a:r>
              <a:rPr sz="950">
                <a:solidFill>
                  <a:srgbClr val="E2E8F0"/>
                </a:solidFill>
              </a:rPr>
              <a:t>Approved DLT templates, Principal Entity ID, dynamic token substitution.</a:t>
            </a:r>
          </a:p>
          <a:p>
            <a:r>
              <a:rPr b="1" sz="950">
                <a:solidFill>
                  <a:srgbClr val="FFFFFF"/>
                </a:solidFill>
              </a:rPr>
              <a:t>• Academic Repositories: </a:t>
            </a:r>
            <a:r>
              <a:rPr sz="950">
                <a:solidFill>
                  <a:srgbClr val="E2E8F0"/>
                </a:solidFill>
              </a:rPr>
              <a:t>DigiLocker, Academic Bank of Credits (ABC), and APAAR ID federation.</a:t>
            </a:r>
          </a:p>
          <a:p>
            <a:r>
              <a:rPr b="1" sz="950">
                <a:solidFill>
                  <a:srgbClr val="FFFFFF"/>
                </a:solidFill>
              </a:rPr>
              <a:t>• Hardware &amp; Storage: </a:t>
            </a:r>
            <a:r>
              <a:rPr sz="950">
                <a:solidFill>
                  <a:srgbClr val="E2E8F0"/>
                </a:solidFill>
              </a:rPr>
              <a:t>Biometric IoT attendance gateways, AWS S3 / MinIO pre-signed object 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FUNCTIONAL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Master Domain Functional Matrix: 14 Core Modules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Exhaustive coverage of every institutional operational unit with zero functional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4 of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2286000"/>
                <a:gridCol w="1767535"/>
              </a:tblGrid>
              <a:tr h="2987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ID &amp; Name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Core Functional Capabilities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Key Business Stakeholders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Primary API Scope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01 Auth &amp; Access Control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JWT auth, RBAC effective union, multi-tenant scoping, password lifecycle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All 24 Roles, Security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/auth, /users, /roles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02 Master Data &amp; Structure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Universities, campuses, departments, programs, batches, academic years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UnivAdmin, InstAdmin, Registrar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/master, /departments, /programs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03 Academics &amp; Timetable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CBCS / NEP courses, syllabus versions, conflict-free timetable, attendance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Dean, HOD, Faculty, Students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/courses, /timetables, /attendance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04 Admissions &amp; Seat Master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Multi-channel leads, merit list engine, seat matrix, enrollment onboarding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Admission Approver, Registrar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/admissions, /seat-master, /leads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05 Exams &amp; CBE Engine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Exam scheduling, anonymous codes, admit cards, marks lock, CBE engine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COE, Evaluators, Students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/exams, /cbe, /grading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06 Fees &amp; Financial Ops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Fee structures, invoicing, Razorpay dual verify, double-entry ledger, refunds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Finance Head, Accounts Officer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/fees, /payments, /ledger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07 Campus Facilities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Hostel rooms &amp; mess, fleet transit &amp; QR bus passes, RFID library circulation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Warden, Transport Head, Librarian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/hostel, /transport, /library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08 HR &amp; Faculty Leaves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Staff profiles, biometric shift logs, multi-tier leave approval, proxy balance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HR Head, Deans, All Staff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/hr, /leaves, /staff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09 Health &amp; Counselling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Clinic EHR, prescription dispensing, confidential AES-256 counselling notes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Medical Officer, Counsellor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/clinic, /counselling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 Documents &amp; Stock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Canvas document designer, encrypted QR verify, pre-printed stock tracking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Document Issuer, Registrar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/documents, /certificates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11 Dynamic Forms &amp; Surveys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Drag-and-drop form builder, public surveys, NAAC feedback collection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Accreditation Officer, Deans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/forms, /surveys, /responses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 Workflow &amp; Approvals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Visual workflow builder, SLA timeout escalation, multi-stage approval chains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Registrar, Deans, Admin Staff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/workflows, /approvals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 Governance &amp; Audit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DLT SMS templates, security policies, tamper-proof audit trail, backup/restore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SuperAdmin, Compliance Officer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/governance, /audit-logs, /system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14 Institutional Analytics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Executive Cockpit, real-time enrollment/finance KPIs, NAAC SSR aggregations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Chancellor, Vice-Chancellor, Dean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/analytics/exec, /reports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STUDENT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The End-to-End Student Lifecycle Journey: 11 Stages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From initial prospect inquiry to alumni status — complete lifecycle governance with automated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5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56032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2231136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01. Lead Ingestion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Multi-channel capture, UTM attribution, automated CRM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737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73736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874519"/>
            <a:ext cx="2231136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02. Scrutiny &amp; Merit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Document verification, 48h defect cure timer, category quota merit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603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74519"/>
            <a:ext cx="2231136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03. Fee Generation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Finance Head assigns fee structure, quota billing, concession deduction.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737360"/>
            <a:ext cx="25603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74519"/>
            <a:ext cx="2231136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04. Dual-Verify Pay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Razorpay checkout, HMAC-SHA256 signature check, double-entry ledger.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256032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60520"/>
            <a:ext cx="223113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05. Seat Allocation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Statutory intake check, batch/section assignment, roll number generation.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6432" y="4023360"/>
            <a:ext cx="2560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4160520"/>
            <a:ext cx="223113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6366F1"/>
                </a:solidFill>
                <a:latin typeface="Arial"/>
              </a:defRPr>
            </a:pPr>
            <a:r>
              <a:t>06. Academic Execution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CBCS / NEP curriculum, dynamic timetable, biometric attendance (75% rule).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4023360"/>
            <a:ext cx="256032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60520"/>
            <a:ext cx="223113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07. Examination &amp; CBE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Anonymous roll numbers, admit cards, marks lock, 3-tier moderation.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6256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06256" y="402336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4160520"/>
            <a:ext cx="2231136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08. Certificate Stock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• Canvas designer, pre-printed serial security paper, tamper-proof vector QR.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ADMISSIONS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Admissions, Lead Funnel &amp; Seat Master Governance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Enforcing statutory approved intake, reservation quotas, and transparent merit list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6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Lead Funnel &amp; Application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Inquiry to Application Scrutiny</a:t>
            </a:r>
          </a:p>
          <a:p>
            <a:r>
              <a:rPr b="1" sz="950">
                <a:solidFill>
                  <a:srgbClr val="FFFFFF"/>
                </a:solidFill>
              </a:rPr>
              <a:t>• Omnichannel Capture: </a:t>
            </a:r>
            <a:r>
              <a:rPr sz="950">
                <a:solidFill>
                  <a:srgbClr val="E2E8F0"/>
                </a:solidFill>
              </a:rPr>
              <a:t>Inquiries from website, social ads, education portals, and walk-in front desk.</a:t>
            </a:r>
          </a:p>
          <a:p>
            <a:r>
              <a:rPr b="1" sz="950">
                <a:solidFill>
                  <a:srgbClr val="FFFFFF"/>
                </a:solidFill>
              </a:rPr>
              <a:t>• Lead Scoring &amp; Nurturing: </a:t>
            </a:r>
            <a:r>
              <a:rPr sz="950">
                <a:solidFill>
                  <a:srgbClr val="E2E8F0"/>
                </a:solidFill>
              </a:rPr>
              <a:t>Automated DLT SMS reminders, counselor call logs, and conversion tracking.</a:t>
            </a:r>
          </a:p>
          <a:p>
            <a:r>
              <a:rPr b="1" sz="950">
                <a:solidFill>
                  <a:srgbClr val="FFFFFF"/>
                </a:solidFill>
              </a:rPr>
              <a:t>• Application Form Engine: </a:t>
            </a:r>
            <a:r>
              <a:rPr sz="950">
                <a:solidFill>
                  <a:srgbClr val="E2E8F0"/>
                </a:solidFill>
              </a:rPr>
              <a:t>Dynamic field builder, multi-step validation, and document attachment upload.</a:t>
            </a:r>
          </a:p>
          <a:p>
            <a:r>
              <a:rPr b="1" sz="950">
                <a:solidFill>
                  <a:srgbClr val="FFFFFF"/>
                </a:solidFill>
              </a:rPr>
              <a:t>• Application Fee Settlement: </a:t>
            </a:r>
            <a:r>
              <a:rPr sz="950">
                <a:solidFill>
                  <a:srgbClr val="E2E8F0"/>
                </a:solidFill>
              </a:rPr>
              <a:t>Online application fee collection with instant receipt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Scrutiny &amp; Merit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Transparent Verification &amp; Selection</a:t>
            </a:r>
          </a:p>
          <a:p>
            <a:r>
              <a:rPr b="1" sz="950">
                <a:solidFill>
                  <a:srgbClr val="FFFFFF"/>
                </a:solidFill>
              </a:rPr>
              <a:t>• 48h Defect Cure Window: </a:t>
            </a:r>
            <a:r>
              <a:rPr sz="950">
                <a:solidFill>
                  <a:srgbClr val="E2E8F0"/>
                </a:solidFill>
              </a:rPr>
              <a:t>Scrutiny officer marks deficiencies; applicant gets 48h to upload corrected files.</a:t>
            </a:r>
          </a:p>
          <a:p>
            <a:r>
              <a:rPr b="1" sz="950">
                <a:solidFill>
                  <a:srgbClr val="FFFFFF"/>
                </a:solidFill>
              </a:rPr>
              <a:t>• Category Quota Engine: </a:t>
            </a:r>
            <a:r>
              <a:rPr sz="950">
                <a:solidFill>
                  <a:srgbClr val="E2E8F0"/>
                </a:solidFill>
              </a:rPr>
              <a:t>Automated ranking across General, OBC, SC, ST, EWS, and Institutional Quotas.</a:t>
            </a:r>
          </a:p>
          <a:p>
            <a:r>
              <a:rPr b="1" sz="950">
                <a:solidFill>
                  <a:srgbClr val="FFFFFF"/>
                </a:solidFill>
              </a:rPr>
              <a:t>• Normalization &amp; Cutoffs: </a:t>
            </a:r>
            <a:r>
              <a:rPr sz="950">
                <a:solidFill>
                  <a:srgbClr val="E2E8F0"/>
                </a:solidFill>
              </a:rPr>
              <a:t>Board percentage normalization, entrance exam weighting, tie-breaking rules.</a:t>
            </a:r>
          </a:p>
          <a:p>
            <a:r>
              <a:rPr b="1" sz="950">
                <a:solidFill>
                  <a:srgbClr val="FFFFFF"/>
                </a:solidFill>
              </a:rPr>
              <a:t>• Provisional Offer Letters: </a:t>
            </a:r>
            <a:r>
              <a:rPr sz="950">
                <a:solidFill>
                  <a:srgbClr val="E2E8F0"/>
                </a:solidFill>
              </a:rPr>
              <a:t>Automated generation of admission offers with expiry countdown timers.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Seat Master &amp; Matriculation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Statutory Intake Compliance</a:t>
            </a:r>
          </a:p>
          <a:p>
            <a:r>
              <a:rPr b="1" sz="950">
                <a:solidFill>
                  <a:srgbClr val="FFFFFF"/>
                </a:solidFill>
              </a:rPr>
              <a:t>• Statutory Seat Ceiling: </a:t>
            </a:r>
            <a:r>
              <a:rPr sz="950">
                <a:solidFill>
                  <a:srgbClr val="E2E8F0"/>
                </a:solidFill>
              </a:rPr>
              <a:t>Hard cap enforcement preventing admissions beyond AICTE/UGC approved intake.</a:t>
            </a:r>
          </a:p>
          <a:p>
            <a:r>
              <a:rPr b="1" sz="950">
                <a:solidFill>
                  <a:srgbClr val="FFFFFF"/>
                </a:solidFill>
              </a:rPr>
              <a:t>• Batch &amp; Section Matrix: </a:t>
            </a:r>
            <a:r>
              <a:rPr sz="950">
                <a:solidFill>
                  <a:srgbClr val="E2E8F0"/>
                </a:solidFill>
              </a:rPr>
              <a:t>Subdividing approved intake into manageable batch sizes and lab sections.</a:t>
            </a:r>
          </a:p>
          <a:p>
            <a:r>
              <a:rPr b="1" sz="950">
                <a:solidFill>
                  <a:srgbClr val="FFFFFF"/>
                </a:solidFill>
              </a:rPr>
              <a:t>• Roll Number Allocation: </a:t>
            </a:r>
            <a:r>
              <a:rPr sz="950">
                <a:solidFill>
                  <a:srgbClr val="E2E8F0"/>
                </a:solidFill>
              </a:rPr>
              <a:t>Automated sequential institutional roll number and matriculation numbering.</a:t>
            </a:r>
          </a:p>
          <a:p>
            <a:r>
              <a:rPr b="1" sz="950">
                <a:solidFill>
                  <a:srgbClr val="FFFFFF"/>
                </a:solidFill>
              </a:rPr>
              <a:t>• Statutory XLSX/PDF Export: </a:t>
            </a:r>
            <a:r>
              <a:rPr sz="950">
                <a:solidFill>
                  <a:srgbClr val="E2E8F0"/>
                </a:solidFill>
              </a:rPr>
              <a:t>Single-click export of statutory seat allotment matrix for regulatory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FINANCE &amp;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Fee Structures, Invoicing &amp; Razorpay Integration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End-to-end institutional financial operations with dual-verification gateway and double-entry accounting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7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Fee Structure Configuration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Setup by Finance Leadership</a:t>
            </a:r>
          </a:p>
          <a:p>
            <a:r>
              <a:rPr b="1" sz="950">
                <a:solidFill>
                  <a:srgbClr val="FFFFFF"/>
                </a:solidFill>
              </a:rPr>
              <a:t>• Finance Head Governance: </a:t>
            </a:r>
            <a:r>
              <a:rPr sz="950">
                <a:solidFill>
                  <a:srgbClr val="E2E8F0"/>
                </a:solidFill>
              </a:rPr>
              <a:t>Only authorized Finance Officers can configure fee heads and fee structures.</a:t>
            </a:r>
          </a:p>
          <a:p>
            <a:r>
              <a:rPr b="1" sz="950">
                <a:solidFill>
                  <a:srgbClr val="FFFFFF"/>
                </a:solidFill>
              </a:rPr>
              <a:t>• Granular Fee Heads: </a:t>
            </a:r>
            <a:r>
              <a:rPr sz="950">
                <a:solidFill>
                  <a:srgbClr val="E2E8F0"/>
                </a:solidFill>
              </a:rPr>
              <a:t>Tuition, Lab, Library, Hostel, Transport, Examination, Caution Deposit.</a:t>
            </a:r>
          </a:p>
          <a:p>
            <a:r>
              <a:rPr b="1" sz="950">
                <a:solidFill>
                  <a:srgbClr val="FFFFFF"/>
                </a:solidFill>
              </a:rPr>
              <a:t>• Cohort-Based Pricing: </a:t>
            </a:r>
            <a:r>
              <a:rPr sz="950">
                <a:solidFill>
                  <a:srgbClr val="E2E8F0"/>
                </a:solidFill>
              </a:rPr>
              <a:t>Structures assigned by Academic Year, Program, Batch, and Admission Quota.</a:t>
            </a:r>
          </a:p>
          <a:p>
            <a:r>
              <a:rPr b="1" sz="950">
                <a:solidFill>
                  <a:srgbClr val="FFFFFF"/>
                </a:solidFill>
              </a:rPr>
              <a:t>• Concessions &amp; Waivers: </a:t>
            </a:r>
            <a:r>
              <a:rPr sz="950">
                <a:solidFill>
                  <a:srgbClr val="E2E8F0"/>
                </a:solidFill>
              </a:rPr>
              <a:t>Merit scholarships, sibling discounts, and sports quota waiver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Billing &amp; Payment Gateway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Razorpay &amp; Cashiering Operations</a:t>
            </a:r>
          </a:p>
          <a:p>
            <a:r>
              <a:rPr b="1" sz="950">
                <a:solidFill>
                  <a:srgbClr val="FFFFFF"/>
                </a:solidFill>
              </a:rPr>
              <a:t>• Automated Term Invoicing: </a:t>
            </a:r>
            <a:r>
              <a:rPr sz="950">
                <a:solidFill>
                  <a:srgbClr val="E2E8F0"/>
                </a:solidFill>
              </a:rPr>
              <a:t>Scheduled fee bill generation with configurable early-bird and late penalty rules.</a:t>
            </a:r>
          </a:p>
          <a:p>
            <a:r>
              <a:rPr b="1" sz="950">
                <a:solidFill>
                  <a:srgbClr val="FFFFFF"/>
                </a:solidFill>
              </a:rPr>
              <a:t>• Dual Gateway Verification: </a:t>
            </a:r>
            <a:r>
              <a:rPr sz="950">
                <a:solidFill>
                  <a:srgbClr val="E2E8F0"/>
                </a:solidFill>
              </a:rPr>
              <a:t>Webhook signature (HMAC-SHA256) check PLUS direct Razorpay API order verify.</a:t>
            </a:r>
          </a:p>
          <a:p>
            <a:r>
              <a:rPr b="1" sz="950">
                <a:solidFill>
                  <a:srgbClr val="FFFFFF"/>
                </a:solidFill>
              </a:rPr>
              <a:t>• Omnichannel Cashiering: </a:t>
            </a:r>
            <a:r>
              <a:rPr sz="950">
                <a:solidFill>
                  <a:srgbClr val="E2E8F0"/>
                </a:solidFill>
              </a:rPr>
              <a:t>Supports online card/UPI/net-banking, offline DD, bank challan, and POS receipts.</a:t>
            </a:r>
          </a:p>
          <a:p>
            <a:r>
              <a:rPr b="1" sz="950">
                <a:solidFill>
                  <a:srgbClr val="FFFFFF"/>
                </a:solidFill>
              </a:rPr>
              <a:t>• Reconciliation Engine: </a:t>
            </a:r>
            <a:r>
              <a:rPr sz="950">
                <a:solidFill>
                  <a:srgbClr val="E2E8F0"/>
                </a:solidFill>
              </a:rPr>
              <a:t>Automated bank settlement reconciliation, chargeback tracking, and refund ledger.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Ledger &amp; Financial Control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Revenue Leakage Guarantee</a:t>
            </a:r>
          </a:p>
          <a:p>
            <a:r>
              <a:rPr b="1" sz="950">
                <a:solidFill>
                  <a:srgbClr val="FFFFFF"/>
                </a:solidFill>
              </a:rPr>
              <a:t>• Double-Entry Accounting: </a:t>
            </a:r>
            <a:r>
              <a:rPr sz="950">
                <a:solidFill>
                  <a:srgbClr val="E2E8F0"/>
                </a:solidFill>
              </a:rPr>
              <a:t>Every transaction creates paired debit and credit entries ensuring perfect balance.</a:t>
            </a:r>
          </a:p>
          <a:p>
            <a:r>
              <a:rPr b="1" sz="950">
                <a:solidFill>
                  <a:srgbClr val="FFFFFF"/>
                </a:solidFill>
              </a:rPr>
              <a:t>• Defaulter Management: </a:t>
            </a:r>
            <a:r>
              <a:rPr sz="950">
                <a:solidFill>
                  <a:srgbClr val="E2E8F0"/>
                </a:solidFill>
              </a:rPr>
              <a:t>Automated DLT SMS payment reminders, hall ticket holds for chronic defaulters.</a:t>
            </a:r>
          </a:p>
          <a:p>
            <a:r>
              <a:rPr b="1" sz="950">
                <a:solidFill>
                  <a:srgbClr val="FFFFFF"/>
                </a:solidFill>
              </a:rPr>
              <a:t>• Late Fee Waiver Audit: </a:t>
            </a:r>
            <a:r>
              <a:rPr sz="950">
                <a:solidFill>
                  <a:srgbClr val="E2E8F0"/>
                </a:solidFill>
              </a:rPr>
              <a:t>Role-restricted waiver approval workflow with mandatory reason logging.</a:t>
            </a:r>
          </a:p>
          <a:p>
            <a:r>
              <a:rPr b="1" sz="950">
                <a:solidFill>
                  <a:srgbClr val="FFFFFF"/>
                </a:solidFill>
              </a:rPr>
              <a:t>• Instant PDF Receipts: </a:t>
            </a:r>
            <a:r>
              <a:rPr sz="950">
                <a:solidFill>
                  <a:srgbClr val="E2E8F0"/>
                </a:solidFill>
              </a:rPr>
              <a:t>Tamper-proof digital receipts with transaction ID, QR code, and breakdown.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ACADEMIC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Academic Curriculum, CBCS &amp; NEP 2020 Governance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Next-gen curriculum structure supporting multi-disciplinary education, credit banking, and flexible electives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8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Curriculum &amp; Course Master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NEP 2020 Multi-Disciplinary Tracks</a:t>
            </a:r>
          </a:p>
          <a:p>
            <a:r>
              <a:rPr b="1" sz="950">
                <a:solidFill>
                  <a:srgbClr val="FFFFFF"/>
                </a:solidFill>
              </a:rPr>
              <a:t>• CBCS &amp; NEP Compliance: </a:t>
            </a:r>
            <a:r>
              <a:rPr sz="950">
                <a:solidFill>
                  <a:srgbClr val="E2E8F0"/>
                </a:solidFill>
              </a:rPr>
              <a:t>Full support for Major, Minor, Open Elective, and Ability Enhancement courses.</a:t>
            </a:r>
          </a:p>
          <a:p>
            <a:r>
              <a:rPr b="1" sz="950">
                <a:solidFill>
                  <a:srgbClr val="FFFFFF"/>
                </a:solidFill>
              </a:rPr>
              <a:t>• Credit Framework: </a:t>
            </a:r>
            <a:r>
              <a:rPr sz="950">
                <a:solidFill>
                  <a:srgbClr val="E2E8F0"/>
                </a:solidFill>
              </a:rPr>
              <a:t>Granular Lecture (L), Tutorial (T), and Practical (P) credit distribution rules.</a:t>
            </a:r>
          </a:p>
          <a:p>
            <a:r>
              <a:rPr b="1" sz="950">
                <a:solidFill>
                  <a:srgbClr val="FFFFFF"/>
                </a:solidFill>
              </a:rPr>
              <a:t>• Prerequisite Chains: </a:t>
            </a:r>
            <a:r>
              <a:rPr sz="950">
                <a:solidFill>
                  <a:srgbClr val="E2E8F0"/>
                </a:solidFill>
              </a:rPr>
              <a:t>Hard and soft prerequisite course validations during student semester registration.</a:t>
            </a:r>
          </a:p>
          <a:p>
            <a:r>
              <a:rPr b="1" sz="950">
                <a:solidFill>
                  <a:srgbClr val="FFFFFF"/>
                </a:solidFill>
              </a:rPr>
              <a:t>• Syllabus Versioning: </a:t>
            </a:r>
            <a:r>
              <a:rPr sz="950">
                <a:solidFill>
                  <a:srgbClr val="E2E8F0"/>
                </a:solidFill>
              </a:rPr>
              <a:t>Academic Council approval workflows for syllabus revisions and course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Course Enrollment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Student Self-Service Registration</a:t>
            </a:r>
          </a:p>
          <a:p>
            <a:r>
              <a:rPr b="1" sz="950">
                <a:solidFill>
                  <a:srgbClr val="FFFFFF"/>
                </a:solidFill>
              </a:rPr>
              <a:t>• Elective Selection Window: </a:t>
            </a:r>
            <a:r>
              <a:rPr sz="950">
                <a:solidFill>
                  <a:srgbClr val="E2E8F0"/>
                </a:solidFill>
              </a:rPr>
              <a:t>Configurable student registration windows with real-time seat quota counters.</a:t>
            </a:r>
          </a:p>
          <a:p>
            <a:r>
              <a:rPr b="1" sz="950">
                <a:solidFill>
                  <a:srgbClr val="FFFFFF"/>
                </a:solidFill>
              </a:rPr>
              <a:t>• Minimum Enrollment Rules: </a:t>
            </a:r>
            <a:r>
              <a:rPr sz="950">
                <a:solidFill>
                  <a:srgbClr val="E2E8F0"/>
                </a:solidFill>
              </a:rPr>
              <a:t>Automatic elective consolidation if enrollment falls below minimum threshold.</a:t>
            </a:r>
          </a:p>
          <a:p>
            <a:r>
              <a:rPr b="1" sz="950">
                <a:solidFill>
                  <a:srgbClr val="FFFFFF"/>
                </a:solidFill>
              </a:rPr>
              <a:t>• Batch &amp; Lab Partitioning: </a:t>
            </a:r>
            <a:r>
              <a:rPr sz="950">
                <a:solidFill>
                  <a:srgbClr val="E2E8F0"/>
                </a:solidFill>
              </a:rPr>
              <a:t>Splitting large lecture cohorts into smaller lab sections for hands-on sessions.</a:t>
            </a:r>
          </a:p>
          <a:p>
            <a:r>
              <a:rPr b="1" sz="950">
                <a:solidFill>
                  <a:srgbClr val="FFFFFF"/>
                </a:solidFill>
              </a:rPr>
              <a:t>• Credit Ceiling Controls: </a:t>
            </a:r>
            <a:r>
              <a:rPr sz="950">
                <a:solidFill>
                  <a:srgbClr val="E2E8F0"/>
                </a:solidFill>
              </a:rPr>
              <a:t>Enforcing minimum and maximum semester credit limits per degree regulation.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Timetable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Optimized Campus Resource Scheduling</a:t>
            </a:r>
          </a:p>
          <a:p>
            <a:r>
              <a:rPr b="1" sz="950">
                <a:solidFill>
                  <a:srgbClr val="FFFFFF"/>
                </a:solidFill>
              </a:rPr>
              <a:t>• Conflict-Free Scheduling: </a:t>
            </a:r>
            <a:r>
              <a:rPr sz="950">
                <a:solidFill>
                  <a:srgbClr val="E2E8F0"/>
                </a:solidFill>
              </a:rPr>
              <a:t>Automated timetable generator preventing faculty, room, and student clashes.</a:t>
            </a:r>
          </a:p>
          <a:p>
            <a:r>
              <a:rPr b="1" sz="950">
                <a:solidFill>
                  <a:srgbClr val="FFFFFF"/>
                </a:solidFill>
              </a:rPr>
              <a:t>• Faculty Workload Balancing: </a:t>
            </a:r>
            <a:r>
              <a:rPr sz="950">
                <a:solidFill>
                  <a:srgbClr val="E2E8F0"/>
                </a:solidFill>
              </a:rPr>
              <a:t>Monitoring weekly teaching hours against statutory UGC/AICTE norms.</a:t>
            </a:r>
          </a:p>
          <a:p>
            <a:r>
              <a:rPr b="1" sz="950">
                <a:solidFill>
                  <a:srgbClr val="FFFFFF"/>
                </a:solidFill>
              </a:rPr>
              <a:t>• Room Capacity Optimization: </a:t>
            </a:r>
            <a:r>
              <a:rPr sz="950">
                <a:solidFill>
                  <a:srgbClr val="E2E8F0"/>
                </a:solidFill>
              </a:rPr>
              <a:t>Matching classroom physical capacity with enrolled cohort sizes.</a:t>
            </a:r>
          </a:p>
          <a:p>
            <a:r>
              <a:rPr b="1" sz="950">
                <a:solidFill>
                  <a:srgbClr val="FFFFFF"/>
                </a:solidFill>
              </a:rPr>
              <a:t>• Visual Timetable Grid: </a:t>
            </a:r>
            <a:r>
              <a:rPr sz="950">
                <a:solidFill>
                  <a:srgbClr val="E2E8F0"/>
                </a:solidFill>
              </a:rPr>
              <a:t>Interactive drag-and-drop grid with real-time collision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ATTENDANCE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Student Attendance &amp; Faculty Operations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Real-time attendance tracking, statutory 75% rule enforcement, and seamless faculty proxy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9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Attendance Capture Modes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Multi-Channel Verification</a:t>
            </a:r>
          </a:p>
          <a:p>
            <a:r>
              <a:rPr b="1" sz="950">
                <a:solidFill>
                  <a:srgbClr val="FFFFFF"/>
                </a:solidFill>
              </a:rPr>
              <a:t>• 1-Click Faculty Marking: </a:t>
            </a:r>
            <a:r>
              <a:rPr sz="950">
                <a:solidFill>
                  <a:srgbClr val="E2E8F0"/>
                </a:solidFill>
              </a:rPr>
              <a:t>Responsive mobile/tablet UI for fast in-classroom attendance logging.</a:t>
            </a:r>
          </a:p>
          <a:p>
            <a:r>
              <a:rPr b="1" sz="950">
                <a:solidFill>
                  <a:srgbClr val="FFFFFF"/>
                </a:solidFill>
              </a:rPr>
              <a:t>• Biometric IoT Integration: </a:t>
            </a:r>
            <a:r>
              <a:rPr sz="950">
                <a:solidFill>
                  <a:srgbClr val="E2E8F0"/>
                </a:solidFill>
              </a:rPr>
              <a:t>Direct integration with fingerprint and facial recognition turnstiles.</a:t>
            </a:r>
          </a:p>
          <a:p>
            <a:r>
              <a:rPr b="1" sz="950">
                <a:solidFill>
                  <a:srgbClr val="FFFFFF"/>
                </a:solidFill>
              </a:rPr>
              <a:t>• Period-Wise vs Daily Mode: </a:t>
            </a:r>
            <a:r>
              <a:rPr sz="950">
                <a:solidFill>
                  <a:srgbClr val="E2E8F0"/>
                </a:solidFill>
              </a:rPr>
              <a:t>Configurable institutional attendance modes based on program requirements.</a:t>
            </a:r>
          </a:p>
          <a:p>
            <a:r>
              <a:rPr b="1" sz="950">
                <a:solidFill>
                  <a:srgbClr val="FFFFFF"/>
                </a:solidFill>
              </a:rPr>
              <a:t>• Late Entry &amp; Tardy Tracking: </a:t>
            </a:r>
            <a:r>
              <a:rPr sz="950">
                <a:solidFill>
                  <a:srgbClr val="E2E8F0"/>
                </a:solidFill>
              </a:rPr>
              <a:t>Distinguishing between excused absences, unexcused absences, and late arrivals.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Statutory Enforcement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UGC 75% Rule &amp; Alerts</a:t>
            </a:r>
          </a:p>
          <a:p>
            <a:r>
              <a:rPr b="1" sz="950">
                <a:solidFill>
                  <a:srgbClr val="FFFFFF"/>
                </a:solidFill>
              </a:rPr>
              <a:t>• 75% Statutory Rule: </a:t>
            </a:r>
            <a:r>
              <a:rPr sz="950">
                <a:solidFill>
                  <a:srgbClr val="E2E8F0"/>
                </a:solidFill>
              </a:rPr>
              <a:t>Continuous dynamic calculation of attendance percentages against statutory minimums.</a:t>
            </a:r>
          </a:p>
          <a:p>
            <a:r>
              <a:rPr b="1" sz="950">
                <a:solidFill>
                  <a:srgbClr val="FFFFFF"/>
                </a:solidFill>
              </a:rPr>
              <a:t>• Attendance Health Gauge: </a:t>
            </a:r>
            <a:r>
              <a:rPr sz="950">
                <a:solidFill>
                  <a:srgbClr val="E2E8F0"/>
                </a:solidFill>
              </a:rPr>
              <a:t>Color-coded visual indicator on student and parent portal dashboards.</a:t>
            </a:r>
          </a:p>
          <a:p>
            <a:r>
              <a:rPr b="1" sz="950">
                <a:solidFill>
                  <a:srgbClr val="FFFFFF"/>
                </a:solidFill>
              </a:rPr>
              <a:t>• Automated Absentee Alerts: </a:t>
            </a:r>
            <a:r>
              <a:rPr sz="950">
                <a:solidFill>
                  <a:srgbClr val="E2E8F0"/>
                </a:solidFill>
              </a:rPr>
              <a:t>Instant DLT-compliant SMS notifications sent to parents upon absence.</a:t>
            </a:r>
          </a:p>
          <a:p>
            <a:r>
              <a:rPr b="1" sz="950">
                <a:solidFill>
                  <a:srgbClr val="FFFFFF"/>
                </a:solidFill>
              </a:rPr>
              <a:t>• At-Risk Intervention: </a:t>
            </a:r>
            <a:r>
              <a:rPr sz="950">
                <a:solidFill>
                  <a:srgbClr val="E2E8F0"/>
                </a:solidFill>
              </a:rPr>
              <a:t>Automated escalation of chronic absentees to academic counselors and mentors.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Condonation &amp; Operations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Workflow-Driven Clearances</a:t>
            </a:r>
          </a:p>
          <a:p>
            <a:r>
              <a:rPr b="1" sz="950">
                <a:solidFill>
                  <a:srgbClr val="FFFFFF"/>
                </a:solidFill>
              </a:rPr>
              <a:t>• Medical Condonation Workflow: </a:t>
            </a:r>
            <a:r>
              <a:rPr sz="950">
                <a:solidFill>
                  <a:srgbClr val="E2E8F0"/>
                </a:solidFill>
              </a:rPr>
              <a:t>Digital medical certificate upload, HOD review, and Dean approval.</a:t>
            </a:r>
          </a:p>
          <a:p>
            <a:r>
              <a:rPr b="1" sz="950">
                <a:solidFill>
                  <a:srgbClr val="FFFFFF"/>
                </a:solidFill>
              </a:rPr>
              <a:t>• On-Duty (OD) Attendance: </a:t>
            </a:r>
            <a:r>
              <a:rPr sz="950">
                <a:solidFill>
                  <a:srgbClr val="E2E8F0"/>
                </a:solidFill>
              </a:rPr>
              <a:t>Automatic attendance credit for authorized sports and cultural representations.</a:t>
            </a:r>
          </a:p>
          <a:p>
            <a:r>
              <a:rPr b="1" sz="950">
                <a:solidFill>
                  <a:srgbClr val="FFFFFF"/>
                </a:solidFill>
              </a:rPr>
              <a:t>• Faculty Proxy Management: </a:t>
            </a:r>
            <a:r>
              <a:rPr sz="950">
                <a:solidFill>
                  <a:srgbClr val="E2E8F0"/>
                </a:solidFill>
              </a:rPr>
              <a:t>Automated proxy assignment when faculty take leave, preventing idle classes.</a:t>
            </a:r>
          </a:p>
          <a:p>
            <a:r>
              <a:rPr b="1" sz="950">
                <a:solidFill>
                  <a:srgbClr val="FFFFFF"/>
                </a:solidFill>
              </a:rPr>
              <a:t>• Hall Ticket Debarment: </a:t>
            </a:r>
            <a:r>
              <a:rPr sz="950">
                <a:solidFill>
                  <a:srgbClr val="E2E8F0"/>
                </a:solidFill>
              </a:rPr>
              <a:t>Automated blocking of exam admit cards for students below 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EXAMINATION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Examination Management &amp; Controller of Exams (COE)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Guaranteed exam integrity with anonymous barcoded roll numbers, 3-tier moderation, and marks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10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Exam Operations &amp; Seating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Admit Cards &amp; Hall Allotment</a:t>
            </a:r>
          </a:p>
          <a:p>
            <a:r>
              <a:rPr b="1" sz="950">
                <a:solidFill>
                  <a:srgbClr val="FFFFFF"/>
                </a:solidFill>
              </a:rPr>
              <a:t>• Centralized Exam Scheduling: </a:t>
            </a:r>
            <a:r>
              <a:rPr sz="950">
                <a:solidFill>
                  <a:srgbClr val="E2E8F0"/>
                </a:solidFill>
              </a:rPr>
              <a:t>Automated exam timetable generation with gap days between major subjects.</a:t>
            </a:r>
          </a:p>
          <a:p>
            <a:r>
              <a:rPr b="1" sz="950">
                <a:solidFill>
                  <a:srgbClr val="FFFFFF"/>
                </a:solidFill>
              </a:rPr>
              <a:t>• Seating Arrangement Engine: </a:t>
            </a:r>
            <a:r>
              <a:rPr sz="950">
                <a:solidFill>
                  <a:srgbClr val="E2E8F0"/>
                </a:solidFill>
              </a:rPr>
              <a:t>Algorithmic desk allotment preventing adjacent students from same branch.</a:t>
            </a:r>
          </a:p>
          <a:p>
            <a:r>
              <a:rPr b="1" sz="950">
                <a:solidFill>
                  <a:srgbClr val="FFFFFF"/>
                </a:solidFill>
              </a:rPr>
              <a:t>• Hall Ticket / Admit Card: </a:t>
            </a:r>
            <a:r>
              <a:rPr sz="950">
                <a:solidFill>
                  <a:srgbClr val="E2E8F0"/>
                </a:solidFill>
              </a:rPr>
              <a:t>Barcode-enabled digital admit cards with photo, venue, and eligibility rules.</a:t>
            </a:r>
          </a:p>
          <a:p>
            <a:r>
              <a:rPr b="1" sz="950">
                <a:solidFill>
                  <a:srgbClr val="FFFFFF"/>
                </a:solidFill>
              </a:rPr>
              <a:t>• Fee &amp; Attendance Verification: </a:t>
            </a:r>
            <a:r>
              <a:rPr sz="950">
                <a:solidFill>
                  <a:srgbClr val="E2E8F0"/>
                </a:solidFill>
              </a:rPr>
              <a:t>Automatic admit card generation only if attendance &gt; 75% and fees cleared.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Anonymous Code Protection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Bias Evaluation Firewall</a:t>
            </a:r>
          </a:p>
          <a:p>
            <a:r>
              <a:rPr b="1" sz="950">
                <a:solidFill>
                  <a:srgbClr val="FFFFFF"/>
                </a:solidFill>
              </a:rPr>
              <a:t>• Identity Masking Engine: </a:t>
            </a:r>
            <a:r>
              <a:rPr sz="950">
                <a:solidFill>
                  <a:srgbClr val="E2E8F0"/>
                </a:solidFill>
              </a:rPr>
              <a:t>Student roll numbers replaced with randomized encrypted barcoded codes.</a:t>
            </a:r>
          </a:p>
          <a:p>
            <a:r>
              <a:rPr b="1" sz="950">
                <a:solidFill>
                  <a:srgbClr val="FFFFFF"/>
                </a:solidFill>
              </a:rPr>
              <a:t>• Evaluator Blind Grading: </a:t>
            </a:r>
            <a:r>
              <a:rPr sz="950">
                <a:solidFill>
                  <a:srgbClr val="E2E8F0"/>
                </a:solidFill>
              </a:rPr>
              <a:t>Faculty evaluate physical or digital answer books without knowing student identity.</a:t>
            </a:r>
          </a:p>
          <a:p>
            <a:r>
              <a:rPr b="1" sz="950">
                <a:solidFill>
                  <a:srgbClr val="FFFFFF"/>
                </a:solidFill>
              </a:rPr>
              <a:t>• Fictitious Number Decoding: </a:t>
            </a:r>
            <a:r>
              <a:rPr sz="950">
                <a:solidFill>
                  <a:srgbClr val="E2E8F0"/>
                </a:solidFill>
              </a:rPr>
              <a:t>Only COE master key can decode anonymous marks back to student records.</a:t>
            </a:r>
          </a:p>
          <a:p>
            <a:r>
              <a:rPr b="1" sz="950">
                <a:solidFill>
                  <a:srgbClr val="FFFFFF"/>
                </a:solidFill>
              </a:rPr>
              <a:t>• Physical Security Paper: </a:t>
            </a:r>
            <a:r>
              <a:rPr sz="950">
                <a:solidFill>
                  <a:srgbClr val="E2E8F0"/>
                </a:solidFill>
              </a:rPr>
              <a:t>Barcode stickers printed on tamper-evident synthetic security paper.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Grading &amp; Moderation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3-Tier Quality Assurance</a:t>
            </a:r>
          </a:p>
          <a:p>
            <a:r>
              <a:rPr b="1" sz="950">
                <a:solidFill>
                  <a:srgbClr val="FFFFFF"/>
                </a:solidFill>
              </a:rPr>
              <a:t>• Continuous Assessment (CIA): </a:t>
            </a:r>
            <a:r>
              <a:rPr sz="950">
                <a:solidFill>
                  <a:srgbClr val="E2E8F0"/>
                </a:solidFill>
              </a:rPr>
              <a:t>Internal tests, assignments, and lab marks locked by Dean prior to end-sem.</a:t>
            </a:r>
          </a:p>
          <a:p>
            <a:r>
              <a:rPr b="1" sz="950">
                <a:solidFill>
                  <a:srgbClr val="FFFFFF"/>
                </a:solidFill>
              </a:rPr>
              <a:t>• 3-Tier Marks Moderation: </a:t>
            </a:r>
            <a:r>
              <a:rPr sz="950">
                <a:solidFill>
                  <a:srgbClr val="E2E8F0"/>
                </a:solidFill>
              </a:rPr>
              <a:t>Evaluator Entry -&gt; Department Chief Scrutiny -&gt; COE Board of Examiners Lock.</a:t>
            </a:r>
          </a:p>
          <a:p>
            <a:r>
              <a:rPr b="1" sz="950">
                <a:solidFill>
                  <a:srgbClr val="FFFFFF"/>
                </a:solidFill>
              </a:rPr>
              <a:t>• Relative &amp; Absolute Grading: </a:t>
            </a:r>
            <a:r>
              <a:rPr sz="950">
                <a:solidFill>
                  <a:srgbClr val="E2E8F0"/>
                </a:solidFill>
              </a:rPr>
              <a:t>Configurable grading scales (10-point UGC, percentage, Letter Grades A+ to F).</a:t>
            </a:r>
          </a:p>
          <a:p>
            <a:r>
              <a:rPr b="1" sz="950">
                <a:solidFill>
                  <a:srgbClr val="FFFFFF"/>
                </a:solidFill>
              </a:rPr>
              <a:t>• Result Publication Firewall: </a:t>
            </a:r>
            <a:r>
              <a:rPr sz="950">
                <a:solidFill>
                  <a:srgbClr val="E2E8F0"/>
                </a:solidFill>
              </a:rPr>
              <a:t>Staged result publishing with re-evaluation and retotalling request window.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DIGITAL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Computer-Based Exam (CBE) &amp; Digital Proctoring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Secure browser lockdown, Bloom's taxonomy question banks, and automated psychometric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11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Proctored Exam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Secure Browser Environment</a:t>
            </a:r>
          </a:p>
          <a:p>
            <a:r>
              <a:rPr b="1" sz="950">
                <a:solidFill>
                  <a:srgbClr val="FFFFFF"/>
                </a:solidFill>
              </a:rPr>
              <a:t>• Fullscreen Browser Lockdown: </a:t>
            </a:r>
            <a:r>
              <a:rPr sz="950">
                <a:solidFill>
                  <a:srgbClr val="E2E8F0"/>
                </a:solidFill>
              </a:rPr>
              <a:t>Forced fullscreen mode disabling clipboard, right-click, and developer tools.</a:t>
            </a:r>
          </a:p>
          <a:p>
            <a:r>
              <a:rPr b="1" sz="950">
                <a:solidFill>
                  <a:srgbClr val="FFFFFF"/>
                </a:solidFill>
              </a:rPr>
              <a:t>• Tab-Switch Detection: </a:t>
            </a:r>
            <a:r>
              <a:rPr sz="950">
                <a:solidFill>
                  <a:srgbClr val="E2E8F0"/>
                </a:solidFill>
              </a:rPr>
              <a:t>Real-time logging of focus loss; automated test auto-submission after 3 warnings.</a:t>
            </a:r>
          </a:p>
          <a:p>
            <a:r>
              <a:rPr b="1" sz="950">
                <a:solidFill>
                  <a:srgbClr val="FFFFFF"/>
                </a:solidFill>
              </a:rPr>
              <a:t>• Webcam Snapshot Verification: </a:t>
            </a:r>
            <a:r>
              <a:rPr sz="950">
                <a:solidFill>
                  <a:srgbClr val="E2E8F0"/>
                </a:solidFill>
              </a:rPr>
              <a:t>Periodic random webcam capture to verify candidate presence.</a:t>
            </a:r>
          </a:p>
          <a:p>
            <a:r>
              <a:rPr b="1" sz="950">
                <a:solidFill>
                  <a:srgbClr val="FFFFFF"/>
                </a:solidFill>
              </a:rPr>
              <a:t>• Bandwidth Resilient State: </a:t>
            </a:r>
            <a:r>
              <a:rPr sz="950">
                <a:solidFill>
                  <a:srgbClr val="E2E8F0"/>
                </a:solidFill>
              </a:rPr>
              <a:t>Client-side offline answer caching ensuring zero data loss during network blips.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Question Bank Psychometrics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Standardized Item Banking</a:t>
            </a:r>
          </a:p>
          <a:p>
            <a:r>
              <a:rPr b="1" sz="950">
                <a:solidFill>
                  <a:srgbClr val="FFFFFF"/>
                </a:solidFill>
              </a:rPr>
              <a:t>• Bloom's Taxonomy Tagging: </a:t>
            </a:r>
            <a:r>
              <a:rPr sz="950">
                <a:solidFill>
                  <a:srgbClr val="E2E8F0"/>
                </a:solidFill>
              </a:rPr>
              <a:t>Questions categorized by Remember, Understand, Apply, Analyze, Evaluate, Create.</a:t>
            </a:r>
          </a:p>
          <a:p>
            <a:r>
              <a:rPr b="1" sz="950">
                <a:solidFill>
                  <a:srgbClr val="FFFFFF"/>
                </a:solidFill>
              </a:rPr>
              <a:t>• Item Difficulty Index (P): </a:t>
            </a:r>
            <a:r>
              <a:rPr sz="950">
                <a:solidFill>
                  <a:srgbClr val="E2E8F0"/>
                </a:solidFill>
              </a:rPr>
              <a:t>Automated statistical calculation of question pass rate and difficulty level.</a:t>
            </a:r>
          </a:p>
          <a:p>
            <a:r>
              <a:rPr b="1" sz="950">
                <a:solidFill>
                  <a:srgbClr val="FFFFFF"/>
                </a:solidFill>
              </a:rPr>
              <a:t>• Discrimination Index (D): </a:t>
            </a:r>
            <a:r>
              <a:rPr sz="950">
                <a:solidFill>
                  <a:srgbClr val="E2E8F0"/>
                </a:solidFill>
              </a:rPr>
              <a:t>Differentiating high-performing from low-performing students for question curation.</a:t>
            </a:r>
          </a:p>
          <a:p>
            <a:r>
              <a:rPr b="1" sz="950">
                <a:solidFill>
                  <a:srgbClr val="FFFFFF"/>
                </a:solidFill>
              </a:rPr>
              <a:t>• Rich Media Support: </a:t>
            </a:r>
            <a:r>
              <a:rPr sz="950">
                <a:solidFill>
                  <a:srgbClr val="E2E8F0"/>
                </a:solidFill>
              </a:rPr>
              <a:t>Supports LaTeX mathematical formulas, code blocks, diagrams, and audio clips.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Evaluation &amp; Analytics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Scoring &amp; Insights</a:t>
            </a:r>
          </a:p>
          <a:p>
            <a:r>
              <a:rPr b="1" sz="950">
                <a:solidFill>
                  <a:srgbClr val="FFFFFF"/>
                </a:solidFill>
              </a:rPr>
              <a:t>• Instant Auto-Evaluation: </a:t>
            </a:r>
            <a:r>
              <a:rPr sz="950">
                <a:solidFill>
                  <a:srgbClr val="E2E8F0"/>
                </a:solidFill>
              </a:rPr>
              <a:t>Real-time grading for MCQs, multiple-select, fill-in-blanks, and matching items.</a:t>
            </a:r>
          </a:p>
          <a:p>
            <a:r>
              <a:rPr b="1" sz="950">
                <a:solidFill>
                  <a:srgbClr val="FFFFFF"/>
                </a:solidFill>
              </a:rPr>
              <a:t>• Rubrics-Based Subjective: </a:t>
            </a:r>
            <a:r>
              <a:rPr sz="950">
                <a:solidFill>
                  <a:srgbClr val="E2E8F0"/>
                </a:solidFill>
              </a:rPr>
              <a:t>Standardized rubrics grading for long essays and descriptive case studies.</a:t>
            </a:r>
          </a:p>
          <a:p>
            <a:r>
              <a:rPr b="1" sz="950">
                <a:solidFill>
                  <a:srgbClr val="FFFFFF"/>
                </a:solidFill>
              </a:rPr>
              <a:t>• Negative Marking Rules: </a:t>
            </a:r>
            <a:r>
              <a:rPr sz="950">
                <a:solidFill>
                  <a:srgbClr val="E2E8F0"/>
                </a:solidFill>
              </a:rPr>
              <a:t>Configurable fractional negative marking for competitive entrance exams.</a:t>
            </a:r>
          </a:p>
          <a:p>
            <a:r>
              <a:rPr b="1" sz="950">
                <a:solidFill>
                  <a:srgbClr val="FFFFFF"/>
                </a:solidFill>
              </a:rPr>
              <a:t>• Post-Exam Analytics: </a:t>
            </a:r>
            <a:r>
              <a:rPr sz="950">
                <a:solidFill>
                  <a:srgbClr val="E2E8F0"/>
                </a:solidFill>
              </a:rPr>
              <a:t>Instant question-wise success heatmaps and distractor efficiency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CREDENTIAL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Visual Document Designer &amp; Certificate Stock Security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Canvas document creator with anti-counterfeit QR verification and pre-printed security paper serial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12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Canvas Document Designer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WYSIWYG Layout Engine</a:t>
            </a:r>
          </a:p>
          <a:p>
            <a:r>
              <a:rPr b="1" sz="950">
                <a:solidFill>
                  <a:srgbClr val="FFFFFF"/>
                </a:solidFill>
              </a:rPr>
              <a:t>• Visual Drag-and-Drop Canvas: </a:t>
            </a:r>
            <a:r>
              <a:rPr sz="950">
                <a:solidFill>
                  <a:srgbClr val="E2E8F0"/>
                </a:solidFill>
              </a:rPr>
              <a:t>Design degree certificates, provisional certs, grade cards, and bonafide letters.</a:t>
            </a:r>
          </a:p>
          <a:p>
            <a:r>
              <a:rPr b="1" sz="950">
                <a:solidFill>
                  <a:srgbClr val="FFFFFF"/>
                </a:solidFill>
              </a:rPr>
              <a:t>• Student Details Pair Layouts: </a:t>
            </a:r>
            <a:r>
              <a:rPr sz="950">
                <a:solidFill>
                  <a:srgbClr val="E2E8F0"/>
                </a:solidFill>
              </a:rPr>
              <a:t>Flexible field pairing (e.g. Roll No + CGPA, Father Name + DOB).</a:t>
            </a:r>
          </a:p>
          <a:p>
            <a:r>
              <a:rPr b="1" sz="950">
                <a:solidFill>
                  <a:srgbClr val="FFFFFF"/>
                </a:solidFill>
              </a:rPr>
              <a:t>• Custom Typography &amp; Borders: </a:t>
            </a:r>
            <a:r>
              <a:rPr sz="950">
                <a:solidFill>
                  <a:srgbClr val="E2E8F0"/>
                </a:solidFill>
              </a:rPr>
              <a:t>Custom fonts, official university seals, watermarks, and micro-text borders.</a:t>
            </a:r>
          </a:p>
          <a:p>
            <a:r>
              <a:rPr b="1" sz="950">
                <a:solidFill>
                  <a:srgbClr val="FFFFFF"/>
                </a:solidFill>
              </a:rPr>
              <a:t>• Reusable Document Templates: </a:t>
            </a:r>
            <a:r>
              <a:rPr sz="950">
                <a:solidFill>
                  <a:srgbClr val="E2E8F0"/>
                </a:solidFill>
              </a:rPr>
              <a:t>Institutional template repository with role-based editing permissions.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Tokens &amp; Public Verification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Instant Anti-Counterfeit Validation</a:t>
            </a:r>
          </a:p>
          <a:p>
            <a:r>
              <a:rPr b="1" sz="950">
                <a:solidFill>
                  <a:srgbClr val="FFFFFF"/>
                </a:solidFill>
              </a:rPr>
              <a:t>• Dynamic Replacement Tokens: </a:t>
            </a:r>
            <a:r>
              <a:rPr sz="950">
                <a:solidFill>
                  <a:srgbClr val="E2E8F0"/>
                </a:solidFill>
              </a:rPr>
              <a:t>Instant token injection: {{student.name}}, {{course.title}}, {{exam.cgpa}}.</a:t>
            </a:r>
          </a:p>
          <a:p>
            <a:r>
              <a:rPr b="1" sz="950">
                <a:solidFill>
                  <a:srgbClr val="FFFFFF"/>
                </a:solidFill>
              </a:rPr>
              <a:t>• Vector Encrypted QR Codes: </a:t>
            </a:r>
            <a:r>
              <a:rPr sz="950">
                <a:solidFill>
                  <a:srgbClr val="E2E8F0"/>
                </a:solidFill>
              </a:rPr>
              <a:t>High-density QR containing digitally signed payload for offline verification.</a:t>
            </a:r>
          </a:p>
          <a:p>
            <a:r>
              <a:rPr b="1" sz="950">
                <a:solidFill>
                  <a:srgbClr val="FFFFFF"/>
                </a:solidFill>
              </a:rPr>
              <a:t>• Public Verification Portal: </a:t>
            </a:r>
            <a:r>
              <a:rPr sz="950">
                <a:solidFill>
                  <a:srgbClr val="E2E8F0"/>
                </a:solidFill>
              </a:rPr>
              <a:t>Employers scan QR or visit portal to verify authenticity without logging in.</a:t>
            </a:r>
          </a:p>
          <a:p>
            <a:r>
              <a:rPr b="1" sz="950">
                <a:solidFill>
                  <a:srgbClr val="FFFFFF"/>
                </a:solidFill>
              </a:rPr>
              <a:t>• Tamper-Evident Signatures: </a:t>
            </a:r>
            <a:r>
              <a:rPr sz="950">
                <a:solidFill>
                  <a:srgbClr val="E2E8F0"/>
                </a:solidFill>
              </a:rPr>
              <a:t>Cryptographic hash generated per document preventing retrospective alterations.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Security Paper Stock Tracking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Certificate Leakage</a:t>
            </a:r>
          </a:p>
          <a:p>
            <a:r>
              <a:rPr b="1" sz="950">
                <a:solidFill>
                  <a:srgbClr val="FFFFFF"/>
                </a:solidFill>
              </a:rPr>
              <a:t>• Physical Security Paper Master: </a:t>
            </a:r>
            <a:r>
              <a:rPr sz="950">
                <a:solidFill>
                  <a:srgbClr val="E2E8F0"/>
                </a:solidFill>
              </a:rPr>
              <a:t>Tracking incoming inventory of watermarked, pre-printed numbered paper.</a:t>
            </a:r>
          </a:p>
          <a:p>
            <a:r>
              <a:rPr b="1" sz="950">
                <a:solidFill>
                  <a:srgbClr val="FFFFFF"/>
                </a:solidFill>
              </a:rPr>
              <a:t>• Sequential Serial Allocation: </a:t>
            </a:r>
            <a:r>
              <a:rPr sz="950">
                <a:solidFill>
                  <a:srgbClr val="E2E8F0"/>
                </a:solidFill>
              </a:rPr>
              <a:t>Mandatory serial number prompt before printing; logs exact sheet used.</a:t>
            </a:r>
          </a:p>
          <a:p>
            <a:r>
              <a:rPr b="1" sz="950">
                <a:solidFill>
                  <a:srgbClr val="FFFFFF"/>
                </a:solidFill>
              </a:rPr>
              <a:t>• Damaged Stock Audit Trail: </a:t>
            </a:r>
            <a:r>
              <a:rPr sz="950">
                <a:solidFill>
                  <a:srgbClr val="E2E8F0"/>
                </a:solidFill>
              </a:rPr>
              <a:t>Requires damaged sheet scan and supervisor reason code for spoilage audit.</a:t>
            </a:r>
          </a:p>
          <a:p>
            <a:r>
              <a:rPr b="1" sz="950">
                <a:solidFill>
                  <a:srgbClr val="FFFFFF"/>
                </a:solidFill>
              </a:rPr>
              <a:t>• Issuer Identity Stamping: </a:t>
            </a:r>
            <a:r>
              <a:rPr sz="950">
                <a:solidFill>
                  <a:srgbClr val="E2E8F0"/>
                </a:solidFill>
              </a:rPr>
              <a:t>Every printed certificate stamped with issuer user ID and exact timestamp.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CAMPUS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Campus Facilities: Hostel &amp; Residential Life Management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Comprehensive residential governance from room matrix inventory to digital gate passes and curfew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13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Room Matrix &amp; Inventory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Bed-Level Inventory Management</a:t>
            </a:r>
          </a:p>
          <a:p>
            <a:r>
              <a:rPr b="1" sz="950">
                <a:solidFill>
                  <a:srgbClr val="FFFFFF"/>
                </a:solidFill>
              </a:rPr>
              <a:t>• Multi-Block Hierarchy: </a:t>
            </a:r>
            <a:r>
              <a:rPr sz="950">
                <a:solidFill>
                  <a:srgbClr val="E2E8F0"/>
                </a:solidFill>
              </a:rPr>
              <a:t>Hostel Block -&gt; Floors -&gt; Rooms -&gt; Beds hierarchy with gender-segregated zones.</a:t>
            </a:r>
          </a:p>
          <a:p>
            <a:r>
              <a:rPr b="1" sz="950">
                <a:solidFill>
                  <a:srgbClr val="FFFFFF"/>
                </a:solidFill>
              </a:rPr>
              <a:t>• Room Typologies: </a:t>
            </a:r>
            <a:r>
              <a:rPr sz="950">
                <a:solidFill>
                  <a:srgbClr val="E2E8F0"/>
                </a:solidFill>
              </a:rPr>
              <a:t>AC, Non-AC, Single, Double, Triple, and Attached-Bathroom room configurations.</a:t>
            </a:r>
          </a:p>
          <a:p>
            <a:r>
              <a:rPr b="1" sz="950">
                <a:solidFill>
                  <a:srgbClr val="FFFFFF"/>
                </a:solidFill>
              </a:rPr>
              <a:t>• Real-Time Occupancy Grid: </a:t>
            </a:r>
            <a:r>
              <a:rPr sz="950">
                <a:solidFill>
                  <a:srgbClr val="E2E8F0"/>
                </a:solidFill>
              </a:rPr>
              <a:t>Color-coded visual bed matrix showing vacant, occupied, and maintenance beds.</a:t>
            </a:r>
          </a:p>
          <a:p>
            <a:r>
              <a:rPr b="1" sz="950">
                <a:solidFill>
                  <a:srgbClr val="FFFFFF"/>
                </a:solidFill>
              </a:rPr>
              <a:t>• Automated Room Allocation: </a:t>
            </a:r>
            <a:r>
              <a:rPr sz="950">
                <a:solidFill>
                  <a:srgbClr val="E2E8F0"/>
                </a:solidFill>
              </a:rPr>
              <a:t>Rules-based bed allocation based on student preference, merit, or seniority.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Gate Pass &amp; Curfew Governance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Student Safety &amp; Parent Linkage</a:t>
            </a:r>
          </a:p>
          <a:p>
            <a:r>
              <a:rPr b="1" sz="950">
                <a:solidFill>
                  <a:srgbClr val="FFFFFF"/>
                </a:solidFill>
              </a:rPr>
              <a:t>• Digital Gate-Pass Requests: </a:t>
            </a:r>
            <a:r>
              <a:rPr sz="950">
                <a:solidFill>
                  <a:srgbClr val="E2E8F0"/>
                </a:solidFill>
              </a:rPr>
              <a:t>Student applies for day-out or night-out passes via mobile app.</a:t>
            </a:r>
          </a:p>
          <a:p>
            <a:r>
              <a:rPr b="1" sz="950">
                <a:solidFill>
                  <a:srgbClr val="FFFFFF"/>
                </a:solidFill>
              </a:rPr>
              <a:t>• Warden &amp; Parent Dual Approval: </a:t>
            </a:r>
            <a:r>
              <a:rPr sz="950">
                <a:solidFill>
                  <a:srgbClr val="E2E8F0"/>
                </a:solidFill>
              </a:rPr>
              <a:t>Automated SMS OTP confirmation sent to parents before warden sign-off.</a:t>
            </a:r>
          </a:p>
          <a:p>
            <a:r>
              <a:rPr b="1" sz="950">
                <a:solidFill>
                  <a:srgbClr val="FFFFFF"/>
                </a:solidFill>
              </a:rPr>
              <a:t>• Security Gate Biometric Scan: </a:t>
            </a:r>
            <a:r>
              <a:rPr sz="950">
                <a:solidFill>
                  <a:srgbClr val="E2E8F0"/>
                </a:solidFill>
              </a:rPr>
              <a:t>Campus security guards verify pass QR code at campus entry/exit turnstiles.</a:t>
            </a:r>
          </a:p>
          <a:p>
            <a:r>
              <a:rPr b="1" sz="950">
                <a:solidFill>
                  <a:srgbClr val="FFFFFF"/>
                </a:solidFill>
              </a:rPr>
              <a:t>• Curfew Violation Monitoring: </a:t>
            </a:r>
            <a:r>
              <a:rPr sz="950">
                <a:solidFill>
                  <a:srgbClr val="E2E8F0"/>
                </a:solidFill>
              </a:rPr>
              <a:t>Automated real-time notification to warden for students past curfew hour.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Mess, Damages &amp; No Dues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Financial &amp; Inventory Settlement</a:t>
            </a:r>
          </a:p>
          <a:p>
            <a:r>
              <a:rPr b="1" sz="950">
                <a:solidFill>
                  <a:srgbClr val="FFFFFF"/>
                </a:solidFill>
              </a:rPr>
              <a:t>• Mess Billing &amp; Diet Opt-Out: </a:t>
            </a:r>
            <a:r>
              <a:rPr sz="950">
                <a:solidFill>
                  <a:srgbClr val="E2E8F0"/>
                </a:solidFill>
              </a:rPr>
              <a:t>Subscription billing for student mess with planned absence fee rebates.</a:t>
            </a:r>
          </a:p>
          <a:p>
            <a:r>
              <a:rPr b="1" sz="950">
                <a:solidFill>
                  <a:srgbClr val="FFFFFF"/>
                </a:solidFill>
              </a:rPr>
              <a:t>• Room Inspection &amp; Damages: </a:t>
            </a:r>
            <a:r>
              <a:rPr sz="950">
                <a:solidFill>
                  <a:srgbClr val="E2E8F0"/>
                </a:solidFill>
              </a:rPr>
              <a:t>Warden room inspection logging; assessed damage charges billed to ledger.</a:t>
            </a:r>
          </a:p>
          <a:p>
            <a:r>
              <a:rPr b="1" sz="950">
                <a:solidFill>
                  <a:srgbClr val="FFFFFF"/>
                </a:solidFill>
              </a:rPr>
              <a:t>• Hostel Caution Deposit: </a:t>
            </a:r>
            <a:r>
              <a:rPr sz="950">
                <a:solidFill>
                  <a:srgbClr val="E2E8F0"/>
                </a:solidFill>
              </a:rPr>
              <a:t>Automated deposit accounting and damage deduction upon vacating room.</a:t>
            </a:r>
          </a:p>
          <a:p>
            <a:r>
              <a:rPr b="1" sz="950">
                <a:solidFill>
                  <a:srgbClr val="FFFFFF"/>
                </a:solidFill>
              </a:rPr>
              <a:t>• Automated No Dues Clearance: </a:t>
            </a:r>
            <a:r>
              <a:rPr sz="950">
                <a:solidFill>
                  <a:srgbClr val="E2E8F0"/>
                </a:solidFill>
              </a:rPr>
              <a:t>Instant digital clearance sign-off if room handed over and dues settled.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FLEET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Campus Facilities: Fleet &amp; Transport Logistics Management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Real-time fleet tracking, digital QR bus passes, route optimization, and student passenger manifests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14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Fleet &amp; Route Management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Vehicle Master &amp; Capacity</a:t>
            </a:r>
          </a:p>
          <a:p>
            <a:r>
              <a:rPr b="1" sz="950">
                <a:solidFill>
                  <a:srgbClr val="FFFFFF"/>
                </a:solidFill>
              </a:rPr>
              <a:t>• Vehicle Master Governance: </a:t>
            </a:r>
            <a:r>
              <a:rPr sz="950">
                <a:solidFill>
                  <a:srgbClr val="E2E8F0"/>
                </a:solidFill>
              </a:rPr>
              <a:t>Tracking buses, vans, driver licenses, fitness certificates, and insurance expiry.</a:t>
            </a:r>
          </a:p>
          <a:p>
            <a:r>
              <a:rPr b="1" sz="950">
                <a:solidFill>
                  <a:srgbClr val="FFFFFF"/>
                </a:solidFill>
              </a:rPr>
              <a:t>• Route &amp; Stop Optimization: </a:t>
            </a:r>
            <a:r>
              <a:rPr sz="950">
                <a:solidFill>
                  <a:srgbClr val="E2E8F0"/>
                </a:solidFill>
              </a:rPr>
              <a:t>Configurable bus routes, geographic waypoints, and scheduled arrival timings.</a:t>
            </a:r>
          </a:p>
          <a:p>
            <a:r>
              <a:rPr b="1" sz="950">
                <a:solidFill>
                  <a:srgbClr val="FFFFFF"/>
                </a:solidFill>
              </a:rPr>
              <a:t>• Seat Capacity Enforcement: </a:t>
            </a:r>
            <a:r>
              <a:rPr sz="950">
                <a:solidFill>
                  <a:srgbClr val="E2E8F0"/>
                </a:solidFill>
              </a:rPr>
              <a:t>Hard capacity limits preventing overcrowding; automated waitlist for full buses.</a:t>
            </a:r>
          </a:p>
          <a:p>
            <a:r>
              <a:rPr b="1" sz="950">
                <a:solidFill>
                  <a:srgbClr val="FFFFFF"/>
                </a:solidFill>
              </a:rPr>
              <a:t>• Fleet Maintenance Logs: </a:t>
            </a:r>
            <a:r>
              <a:rPr sz="950">
                <a:solidFill>
                  <a:srgbClr val="E2E8F0"/>
                </a:solidFill>
              </a:rPr>
              <a:t>Tracking odometer readings, fuel consumption logs, and periodic service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Digital Bus Passes &amp; Safety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QR Ticketing &amp; Boarding Control</a:t>
            </a:r>
          </a:p>
          <a:p>
            <a:r>
              <a:rPr b="1" sz="950">
                <a:solidFill>
                  <a:srgbClr val="FFFFFF"/>
                </a:solidFill>
              </a:rPr>
              <a:t>• Dynamic QR Bus Passes: </a:t>
            </a:r>
            <a:r>
              <a:rPr sz="950">
                <a:solidFill>
                  <a:srgbClr val="E2E8F0"/>
                </a:solidFill>
              </a:rPr>
              <a:t>Time-expiring encrypted QR pass generated on student mobile app upon fee payment.</a:t>
            </a:r>
          </a:p>
          <a:p>
            <a:r>
              <a:rPr b="1" sz="950">
                <a:solidFill>
                  <a:srgbClr val="FFFFFF"/>
                </a:solidFill>
              </a:rPr>
              <a:t>• Conductor Validation App: </a:t>
            </a:r>
            <a:r>
              <a:rPr sz="950">
                <a:solidFill>
                  <a:srgbClr val="E2E8F0"/>
                </a:solidFill>
              </a:rPr>
              <a:t>Fast offline-capable QR scanner for bus conductors during boarding.</a:t>
            </a:r>
          </a:p>
          <a:p>
            <a:r>
              <a:rPr b="1" sz="950">
                <a:solidFill>
                  <a:srgbClr val="FFFFFF"/>
                </a:solidFill>
              </a:rPr>
              <a:t>• Real-Time Passenger Manifest: </a:t>
            </a:r>
            <a:r>
              <a:rPr sz="950">
                <a:solidFill>
                  <a:srgbClr val="E2E8F0"/>
                </a:solidFill>
              </a:rPr>
              <a:t>Instant attendance logging of which students boarded which bus each morning.</a:t>
            </a:r>
          </a:p>
          <a:p>
            <a:r>
              <a:rPr b="1" sz="950">
                <a:solidFill>
                  <a:srgbClr val="FFFFFF"/>
                </a:solidFill>
              </a:rPr>
              <a:t>• Emergency SOS Alerts: </a:t>
            </a:r>
            <a:r>
              <a:rPr sz="950">
                <a:solidFill>
                  <a:srgbClr val="E2E8F0"/>
                </a:solidFill>
              </a:rPr>
              <a:t>Driver and student panic button sending instant location alerts to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Billing &amp; Transport Clearance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Fee &amp; No Dues Integration</a:t>
            </a:r>
          </a:p>
          <a:p>
            <a:r>
              <a:rPr b="1" sz="950">
                <a:solidFill>
                  <a:srgbClr val="FFFFFF"/>
                </a:solidFill>
              </a:rPr>
              <a:t>• Distance-Based Fee Slabs: </a:t>
            </a:r>
            <a:r>
              <a:rPr sz="950">
                <a:solidFill>
                  <a:srgbClr val="E2E8F0"/>
                </a:solidFill>
              </a:rPr>
              <a:t>Automated fee calculation based on pickup stop distance from university campus.</a:t>
            </a:r>
          </a:p>
          <a:p>
            <a:r>
              <a:rPr b="1" sz="950">
                <a:solidFill>
                  <a:srgbClr val="FFFFFF"/>
                </a:solidFill>
              </a:rPr>
              <a:t>• Term Invoicing Integration: </a:t>
            </a:r>
            <a:r>
              <a:rPr sz="950">
                <a:solidFill>
                  <a:srgbClr val="E2E8F0"/>
                </a:solidFill>
              </a:rPr>
              <a:t>Transport fees integrated seamlessly into student master fee ledger.</a:t>
            </a:r>
          </a:p>
          <a:p>
            <a:r>
              <a:rPr b="1" sz="950">
                <a:solidFill>
                  <a:srgbClr val="FFFFFF"/>
                </a:solidFill>
              </a:rPr>
              <a:t>• Temporary Route Change: </a:t>
            </a:r>
            <a:r>
              <a:rPr sz="950">
                <a:solidFill>
                  <a:srgbClr val="E2E8F0"/>
                </a:solidFill>
              </a:rPr>
              <a:t>Self-service requests for temporary stop changes during exams or internships.</a:t>
            </a:r>
          </a:p>
          <a:p>
            <a:r>
              <a:rPr b="1" sz="950">
                <a:solidFill>
                  <a:srgbClr val="FFFFFF"/>
                </a:solidFill>
              </a:rPr>
              <a:t>• Transport No Dues Sign-Off: </a:t>
            </a:r>
            <a:r>
              <a:rPr sz="950">
                <a:solidFill>
                  <a:srgbClr val="E2E8F0"/>
                </a:solidFill>
              </a:rPr>
              <a:t>Automated transport clearance upon pass surrender and zero fee arrears.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LIBRARY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Campus Facilities: Library &amp; Resource Center (RFID)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Marc21 cataloging, RFID self-service circulation, automated overdue fine accounting, and digital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15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Bibliographic Cataloging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Standardized Library Inventory</a:t>
            </a:r>
          </a:p>
          <a:p>
            <a:r>
              <a:rPr b="1" sz="950">
                <a:solidFill>
                  <a:srgbClr val="FFFFFF"/>
                </a:solidFill>
              </a:rPr>
              <a:t>• Marc21 / Dublin Core Cataloging: </a:t>
            </a:r>
            <a:r>
              <a:rPr sz="950">
                <a:solidFill>
                  <a:srgbClr val="E2E8F0"/>
                </a:solidFill>
              </a:rPr>
              <a:t>International standard bibliographic metadata and Dewey decimal classification.</a:t>
            </a:r>
          </a:p>
          <a:p>
            <a:r>
              <a:rPr b="1" sz="950">
                <a:solidFill>
                  <a:srgbClr val="FFFFFF"/>
                </a:solidFill>
              </a:rPr>
              <a:t>• Multi-Copy Accessioning: </a:t>
            </a:r>
            <a:r>
              <a:rPr sz="950">
                <a:solidFill>
                  <a:srgbClr val="E2E8F0"/>
                </a:solidFill>
              </a:rPr>
              <a:t>Individual barcode and RFID tag encoding for every physical copy on shelves.</a:t>
            </a:r>
          </a:p>
          <a:p>
            <a:r>
              <a:rPr b="1" sz="950">
                <a:solidFill>
                  <a:srgbClr val="FFFFFF"/>
                </a:solidFill>
              </a:rPr>
              <a:t>• E-Book &amp; Journal Repositories: </a:t>
            </a:r>
            <a:r>
              <a:rPr sz="950">
                <a:solidFill>
                  <a:srgbClr val="E2E8F0"/>
                </a:solidFill>
              </a:rPr>
              <a:t>Digital asset management, publisher link integration, and Open Access catalogs.</a:t>
            </a:r>
          </a:p>
          <a:p>
            <a:r>
              <a:rPr b="1" sz="950">
                <a:solidFill>
                  <a:srgbClr val="FFFFFF"/>
                </a:solidFill>
              </a:rPr>
              <a:t>• Departmental Sub-Libraries: </a:t>
            </a:r>
            <a:r>
              <a:rPr sz="950">
                <a:solidFill>
                  <a:srgbClr val="E2E8F0"/>
                </a:solidFill>
              </a:rPr>
              <a:t>Centralized inventory tracking across departmental seminar libraries.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RFID Circulation Operations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Self-Service Kiosks &amp; Gates</a:t>
            </a:r>
          </a:p>
          <a:p>
            <a:r>
              <a:rPr b="1" sz="950">
                <a:solidFill>
                  <a:srgbClr val="FFFFFF"/>
                </a:solidFill>
              </a:rPr>
              <a:t>• RFID Self-Checkout Kiosk: </a:t>
            </a:r>
            <a:r>
              <a:rPr sz="950">
                <a:solidFill>
                  <a:srgbClr val="E2E8F0"/>
                </a:solidFill>
              </a:rPr>
              <a:t>Students scan student ID and place multiple books on RFID pad for instant issue.</a:t>
            </a:r>
          </a:p>
          <a:p>
            <a:r>
              <a:rPr b="1" sz="950">
                <a:solidFill>
                  <a:srgbClr val="FFFFFF"/>
                </a:solidFill>
              </a:rPr>
              <a:t>• Smart Book Drop Station: </a:t>
            </a:r>
            <a:r>
              <a:rPr sz="950">
                <a:solidFill>
                  <a:srgbClr val="E2E8F0"/>
                </a:solidFill>
              </a:rPr>
              <a:t>Automated book return chute with RFID detection and instant check-in confirmation.</a:t>
            </a:r>
          </a:p>
          <a:p>
            <a:r>
              <a:rPr b="1" sz="950">
                <a:solidFill>
                  <a:srgbClr val="FFFFFF"/>
                </a:solidFill>
              </a:rPr>
              <a:t>• Anti-Theft RFID Security Gates: </a:t>
            </a:r>
            <a:r>
              <a:rPr sz="950">
                <a:solidFill>
                  <a:srgbClr val="E2E8F0"/>
                </a:solidFill>
              </a:rPr>
              <a:t>Audible alarm and security alerts if unissued books pass through library gates.</a:t>
            </a:r>
          </a:p>
          <a:p>
            <a:r>
              <a:rPr b="1" sz="950">
                <a:solidFill>
                  <a:srgbClr val="FFFFFF"/>
                </a:solidFill>
              </a:rPr>
              <a:t>• Circulation Rules Engine: </a:t>
            </a:r>
            <a:r>
              <a:rPr sz="950">
                <a:solidFill>
                  <a:srgbClr val="E2E8F0"/>
                </a:solidFill>
              </a:rPr>
              <a:t>Configurable loan periods and borrowing limits by role (Student, Faculty, Scholar).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Overdue Fines &amp; Clearance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Fines, Reservations &amp; No Dues</a:t>
            </a:r>
          </a:p>
          <a:p>
            <a:r>
              <a:rPr b="1" sz="950">
                <a:solidFill>
                  <a:srgbClr val="FFFFFF"/>
                </a:solidFill>
              </a:rPr>
              <a:t>• Automated Daily Fine Ledger: </a:t>
            </a:r>
            <a:r>
              <a:rPr sz="950">
                <a:solidFill>
                  <a:srgbClr val="E2E8F0"/>
                </a:solidFill>
              </a:rPr>
              <a:t>Daily automated cron job calculating overdue fines against student accounts.</a:t>
            </a:r>
          </a:p>
          <a:p>
            <a:r>
              <a:rPr b="1" sz="950">
                <a:solidFill>
                  <a:srgbClr val="FFFFFF"/>
                </a:solidFill>
              </a:rPr>
              <a:t>• Book Hold &amp; Reservation Queue: </a:t>
            </a:r>
            <a:r>
              <a:rPr sz="950">
                <a:solidFill>
                  <a:srgbClr val="E2E8F0"/>
                </a:solidFill>
              </a:rPr>
              <a:t>Automated notification to student when reserved book is checked back in.</a:t>
            </a:r>
          </a:p>
          <a:p>
            <a:r>
              <a:rPr b="1" sz="950">
                <a:solidFill>
                  <a:srgbClr val="FFFFFF"/>
                </a:solidFill>
              </a:rPr>
              <a:t>• Lost Book Replacement Fee: </a:t>
            </a:r>
            <a:r>
              <a:rPr sz="950">
                <a:solidFill>
                  <a:srgbClr val="E2E8F0"/>
                </a:solidFill>
              </a:rPr>
              <a:t>Replacement cost plus administrative processing charge billed to ledger.</a:t>
            </a:r>
          </a:p>
          <a:p>
            <a:r>
              <a:rPr b="1" sz="950">
                <a:solidFill>
                  <a:srgbClr val="FFFFFF"/>
                </a:solidFill>
              </a:rPr>
              <a:t>• Instant Library No Dues: </a:t>
            </a:r>
            <a:r>
              <a:rPr sz="950">
                <a:solidFill>
                  <a:srgbClr val="E2E8F0"/>
                </a:solidFill>
              </a:rPr>
              <a:t>Automated clearance sign-off if all books returned and zero outstanding fines.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HUMAN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Human Resources, Faculty &amp; Leave Governance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Complete faculty lifecycle, biometric shift scheduling, multi-tier leave approval, and proxy class arrangement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16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Faculty &amp; Staff Master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Profile Governance</a:t>
            </a:r>
          </a:p>
          <a:p>
            <a:r>
              <a:rPr b="1" sz="950">
                <a:solidFill>
                  <a:srgbClr val="FFFFFF"/>
                </a:solidFill>
              </a:rPr>
              <a:t>• Comprehensive Staff Master: </a:t>
            </a:r>
            <a:r>
              <a:rPr sz="950">
                <a:solidFill>
                  <a:srgbClr val="E2E8F0"/>
                </a:solidFill>
              </a:rPr>
              <a:t>Faculty ranks (Professor, Associate, Assistant), contracts, and pay scales.</a:t>
            </a:r>
          </a:p>
          <a:p>
            <a:r>
              <a:rPr b="1" sz="950">
                <a:solidFill>
                  <a:srgbClr val="FFFFFF"/>
                </a:solidFill>
              </a:rPr>
              <a:t>• Academic Credentials Vault: </a:t>
            </a:r>
            <a:r>
              <a:rPr sz="950">
                <a:solidFill>
                  <a:srgbClr val="E2E8F0"/>
                </a:solidFill>
              </a:rPr>
              <a:t>PhD thesis titles, UGC NET/SET scores, publications, and patent filings.</a:t>
            </a:r>
          </a:p>
          <a:p>
            <a:r>
              <a:rPr b="1" sz="950">
                <a:solidFill>
                  <a:srgbClr val="FFFFFF"/>
                </a:solidFill>
              </a:rPr>
              <a:t>• Statutory Faculty Ratios: </a:t>
            </a:r>
            <a:r>
              <a:rPr sz="950">
                <a:solidFill>
                  <a:srgbClr val="E2E8F0"/>
                </a:solidFill>
              </a:rPr>
              <a:t>Automated monitoring of Student-to-Faculty Ratio (SFR) for NAAC &amp; NBA compliance.</a:t>
            </a:r>
          </a:p>
          <a:p>
            <a:r>
              <a:rPr b="1" sz="950">
                <a:solidFill>
                  <a:srgbClr val="FFFFFF"/>
                </a:solidFill>
              </a:rPr>
              <a:t>• Service Book &amp; Experience: </a:t>
            </a:r>
            <a:r>
              <a:rPr sz="950">
                <a:solidFill>
                  <a:srgbClr val="E2E8F0"/>
                </a:solidFill>
              </a:rPr>
              <a:t>Digital service record tracking promotions, awards, and disciplinary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Shifts &amp; Biometric Tracking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Accurate Time &amp; Attendance</a:t>
            </a:r>
          </a:p>
          <a:p>
            <a:r>
              <a:rPr b="1" sz="950">
                <a:solidFill>
                  <a:srgbClr val="FFFFFF"/>
                </a:solidFill>
              </a:rPr>
              <a:t>• Biometric Shift Synchronization: </a:t>
            </a:r>
            <a:r>
              <a:rPr sz="950">
                <a:solidFill>
                  <a:srgbClr val="E2E8F0"/>
                </a:solidFill>
              </a:rPr>
              <a:t>Direct sync with biometric turnstiles for in/out shift recording.</a:t>
            </a:r>
          </a:p>
          <a:p>
            <a:r>
              <a:rPr b="1" sz="950">
                <a:solidFill>
                  <a:srgbClr val="FFFFFF"/>
                </a:solidFill>
              </a:rPr>
              <a:t>• Flexible Shift Configurations: </a:t>
            </a:r>
            <a:r>
              <a:rPr sz="950">
                <a:solidFill>
                  <a:srgbClr val="E2E8F0"/>
                </a:solidFill>
              </a:rPr>
              <a:t>Configurable morning, general, and evening shifts with grace periods.</a:t>
            </a:r>
          </a:p>
          <a:p>
            <a:r>
              <a:rPr b="1" sz="950">
                <a:solidFill>
                  <a:srgbClr val="FFFFFF"/>
                </a:solidFill>
              </a:rPr>
              <a:t>• Late Entry &amp; Overtime Rules: </a:t>
            </a:r>
            <a:r>
              <a:rPr sz="950">
                <a:solidFill>
                  <a:srgbClr val="E2E8F0"/>
                </a:solidFill>
              </a:rPr>
              <a:t>Automated tracking of half-day cuts and overtime allowances.</a:t>
            </a:r>
          </a:p>
          <a:p>
            <a:r>
              <a:rPr b="1" sz="950">
                <a:solidFill>
                  <a:srgbClr val="FFFFFF"/>
                </a:solidFill>
              </a:rPr>
              <a:t>• Monthly Payroll Attendance: </a:t>
            </a:r>
            <a:r>
              <a:rPr sz="950">
                <a:solidFill>
                  <a:srgbClr val="E2E8F0"/>
                </a:solidFill>
              </a:rPr>
              <a:t>Export of verified monthly work hours directly into institutional payroll.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Leave Engine &amp; Proxy Workflows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Disrupted Classrooms</a:t>
            </a:r>
          </a:p>
          <a:p>
            <a:r>
              <a:rPr b="1" sz="950">
                <a:solidFill>
                  <a:srgbClr val="FFFFFF"/>
                </a:solidFill>
              </a:rPr>
              <a:t>• Configurable Leave Quotas: </a:t>
            </a:r>
            <a:r>
              <a:rPr sz="950">
                <a:solidFill>
                  <a:srgbClr val="E2E8F0"/>
                </a:solidFill>
              </a:rPr>
              <a:t>Casual (CL), Sick (SL), Earned (EL), Duty (DL), and Sabbatical leave quotas.</a:t>
            </a:r>
          </a:p>
          <a:p>
            <a:r>
              <a:rPr b="1" sz="950">
                <a:solidFill>
                  <a:srgbClr val="FFFFFF"/>
                </a:solidFill>
              </a:rPr>
              <a:t>• Multi-Stage Approval Hierarchy: </a:t>
            </a:r>
            <a:r>
              <a:rPr sz="950">
                <a:solidFill>
                  <a:srgbClr val="E2E8F0"/>
                </a:solidFill>
              </a:rPr>
              <a:t>Applicant -&gt; HOD Review -&gt; Dean Recommendation -&gt; HR Approval.</a:t>
            </a:r>
          </a:p>
          <a:p>
            <a:r>
              <a:rPr b="1" sz="950">
                <a:solidFill>
                  <a:srgbClr val="FFFFFF"/>
                </a:solidFill>
              </a:rPr>
              <a:t>• Mandatory Class Proxy Arrangement: </a:t>
            </a:r>
            <a:r>
              <a:rPr sz="950">
                <a:solidFill>
                  <a:srgbClr val="E2E8F0"/>
                </a:solidFill>
              </a:rPr>
              <a:t>Faculty must assign substitute teaching colleagues before leave submission.</a:t>
            </a:r>
          </a:p>
          <a:p>
            <a:r>
              <a:rPr b="1" sz="950">
                <a:solidFill>
                  <a:srgbClr val="FFFFFF"/>
                </a:solidFill>
              </a:rPr>
              <a:t>• Leave Encashment &amp; Carryover: </a:t>
            </a:r>
            <a:r>
              <a:rPr sz="950">
                <a:solidFill>
                  <a:srgbClr val="E2E8F0"/>
                </a:solidFill>
              </a:rPr>
              <a:t>Automated annual leave balance rollovers and encashment calculations.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STUDENT WELFARE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Campus Health Clinic, Counselling &amp; Student Welfare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Confidential AES-256 encrypted psychological counselling notes, clinic EHR, and student mentorship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17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Campus Health Clinic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Primary Care &amp; Medical Records</a:t>
            </a:r>
          </a:p>
          <a:p>
            <a:r>
              <a:rPr b="1" sz="950">
                <a:solidFill>
                  <a:srgbClr val="FFFFFF"/>
                </a:solidFill>
              </a:rPr>
              <a:t>• Electronic Health Record (EHR): </a:t>
            </a:r>
            <a:r>
              <a:rPr sz="950">
                <a:solidFill>
                  <a:srgbClr val="E2E8F0"/>
                </a:solidFill>
              </a:rPr>
              <a:t>Student and staff outpatient visits, medical history, and allergy warnings.</a:t>
            </a:r>
          </a:p>
          <a:p>
            <a:r>
              <a:rPr b="1" sz="950">
                <a:solidFill>
                  <a:srgbClr val="FFFFFF"/>
                </a:solidFill>
              </a:rPr>
              <a:t>• Pharmacy Dispensing Ledger: </a:t>
            </a:r>
            <a:r>
              <a:rPr sz="950">
                <a:solidFill>
                  <a:srgbClr val="E2E8F0"/>
                </a:solidFill>
              </a:rPr>
              <a:t>Campus clinic medicine inventory tracking and prescription dispensing logs.</a:t>
            </a:r>
          </a:p>
          <a:p>
            <a:r>
              <a:rPr b="1" sz="950">
                <a:solidFill>
                  <a:srgbClr val="FFFFFF"/>
                </a:solidFill>
              </a:rPr>
              <a:t>• Emergency Dispatch Integration: </a:t>
            </a:r>
            <a:r>
              <a:rPr sz="950">
                <a:solidFill>
                  <a:srgbClr val="E2E8F0"/>
                </a:solidFill>
              </a:rPr>
              <a:t>Direct link to campus ambulance, local hospitals, and parent emergency SMS.</a:t>
            </a:r>
          </a:p>
          <a:p>
            <a:r>
              <a:rPr b="1" sz="950">
                <a:solidFill>
                  <a:srgbClr val="FFFFFF"/>
                </a:solidFill>
              </a:rPr>
              <a:t>• Medical Certificate Issuance: </a:t>
            </a:r>
            <a:r>
              <a:rPr sz="950">
                <a:solidFill>
                  <a:srgbClr val="E2E8F0"/>
                </a:solidFill>
              </a:rPr>
              <a:t>Digital issuance of clinic rest slips linked to attendance condonation.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Psychological Counselling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Encrypted Mental Health Support</a:t>
            </a:r>
          </a:p>
          <a:p>
            <a:r>
              <a:rPr b="1" sz="950">
                <a:solidFill>
                  <a:srgbClr val="FFFFFF"/>
                </a:solidFill>
              </a:rPr>
              <a:t>• Zero-Knowledge AES-256 Encryption: </a:t>
            </a:r>
            <a:r>
              <a:rPr sz="950">
                <a:solidFill>
                  <a:srgbClr val="E2E8F0"/>
                </a:solidFill>
              </a:rPr>
              <a:t>Counselling session notes encrypted at column level; inaccessible even to DBAs.</a:t>
            </a:r>
          </a:p>
          <a:p>
            <a:r>
              <a:rPr b="1" sz="950">
                <a:solidFill>
                  <a:srgbClr val="FFFFFF"/>
                </a:solidFill>
              </a:rPr>
              <a:t>• Confidential Appointment Booking: </a:t>
            </a:r>
            <a:r>
              <a:rPr sz="950">
                <a:solidFill>
                  <a:srgbClr val="E2E8F0"/>
                </a:solidFill>
              </a:rPr>
              <a:t>Students can book confidential appointments without revealing reason to staff.</a:t>
            </a:r>
          </a:p>
          <a:p>
            <a:r>
              <a:rPr b="1" sz="950">
                <a:solidFill>
                  <a:srgbClr val="FFFFFF"/>
                </a:solidFill>
              </a:rPr>
              <a:t>• Mental Wellness Assessments: </a:t>
            </a:r>
            <a:r>
              <a:rPr sz="950">
                <a:solidFill>
                  <a:srgbClr val="E2E8F0"/>
                </a:solidFill>
              </a:rPr>
              <a:t>Periodic standardized screening (PHQ-9, GAD-7) for early stress intervention.</a:t>
            </a:r>
          </a:p>
          <a:p>
            <a:r>
              <a:rPr b="1" sz="950">
                <a:solidFill>
                  <a:srgbClr val="FFFFFF"/>
                </a:solidFill>
              </a:rPr>
              <a:t>• Anonymized Crisis Escalation: </a:t>
            </a:r>
            <a:r>
              <a:rPr sz="950">
                <a:solidFill>
                  <a:srgbClr val="E2E8F0"/>
                </a:solidFill>
              </a:rPr>
              <a:t>Emergency high-risk flags alerting Dean of Student Welfare without breach.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Mentorship &amp; Grievance Governance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Statutory Student Welfare</a:t>
            </a:r>
          </a:p>
          <a:p>
            <a:r>
              <a:rPr b="1" sz="950">
                <a:solidFill>
                  <a:srgbClr val="FFFFFF"/>
                </a:solidFill>
              </a:rPr>
              <a:t>• Faculty Mentorship System: </a:t>
            </a:r>
            <a:r>
              <a:rPr sz="950">
                <a:solidFill>
                  <a:srgbClr val="E2E8F0"/>
                </a:solidFill>
              </a:rPr>
              <a:t>Cohorts of 15-20 students assigned to faculty mentors for holistic guidance.</a:t>
            </a:r>
          </a:p>
          <a:p>
            <a:r>
              <a:rPr b="1" sz="950">
                <a:solidFill>
                  <a:srgbClr val="FFFFFF"/>
                </a:solidFill>
              </a:rPr>
              <a:t>• Anti-Ragging Committee Logs: </a:t>
            </a:r>
            <a:r>
              <a:rPr sz="950">
                <a:solidFill>
                  <a:srgbClr val="E2E8F0"/>
                </a:solidFill>
              </a:rPr>
              <a:t>Statutory UGC anti-ragging compliance, affidavit tracking, and incident logging.</a:t>
            </a:r>
          </a:p>
          <a:p>
            <a:r>
              <a:rPr b="1" sz="950">
                <a:solidFill>
                  <a:srgbClr val="FFFFFF"/>
                </a:solidFill>
              </a:rPr>
              <a:t>• Grievance Redressal Portal: </a:t>
            </a:r>
            <a:r>
              <a:rPr sz="950">
                <a:solidFill>
                  <a:srgbClr val="E2E8F0"/>
                </a:solidFill>
              </a:rPr>
              <a:t>Transparent grievance submission, committee review, and resolution SLAs.</a:t>
            </a:r>
          </a:p>
          <a:p>
            <a:r>
              <a:rPr b="1" sz="950">
                <a:solidFill>
                  <a:srgbClr val="FFFFFF"/>
                </a:solidFill>
              </a:rPr>
              <a:t>• Equal Opportunity Cell: </a:t>
            </a:r>
            <a:r>
              <a:rPr sz="950">
                <a:solidFill>
                  <a:srgbClr val="E2E8F0"/>
                </a:solidFill>
              </a:rPr>
              <a:t>Monitoring assistance and scholarships for differently-abled and minority students.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EXIT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Student Exit Governance &amp; 5-Department 'No Dues' Clearance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Rigorous multi-department clearance workflow ensuring zero institutional loss prior to student departure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18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Operational Clearances (1-3)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Physical Asset &amp; Key Return</a:t>
            </a:r>
          </a:p>
          <a:p>
            <a:r>
              <a:rPr b="1" sz="950">
                <a:solidFill>
                  <a:srgbClr val="FFFFFF"/>
                </a:solidFill>
              </a:rPr>
              <a:t>• Library Clearance (Dept 1): </a:t>
            </a:r>
            <a:r>
              <a:rPr sz="950">
                <a:solidFill>
                  <a:srgbClr val="E2E8F0"/>
                </a:solidFill>
              </a:rPr>
              <a:t>Validates all borrowed books returned and zero outstanding fine ledger balances.</a:t>
            </a:r>
          </a:p>
          <a:p>
            <a:r>
              <a:rPr b="1" sz="950">
                <a:solidFill>
                  <a:srgbClr val="FFFFFF"/>
                </a:solidFill>
              </a:rPr>
              <a:t>• Hostel Warden Clearance (Dept 2): </a:t>
            </a:r>
            <a:r>
              <a:rPr sz="950">
                <a:solidFill>
                  <a:srgbClr val="E2E8F0"/>
                </a:solidFill>
              </a:rPr>
              <a:t>Validates room physical inspection, keys handed over, and damage dues paid.</a:t>
            </a:r>
          </a:p>
          <a:p>
            <a:r>
              <a:rPr b="1" sz="950">
                <a:solidFill>
                  <a:srgbClr val="FFFFFF"/>
                </a:solidFill>
              </a:rPr>
              <a:t>• Transport Fleet Clearance (Dept 3): </a:t>
            </a:r>
            <a:r>
              <a:rPr sz="950">
                <a:solidFill>
                  <a:srgbClr val="E2E8F0"/>
                </a:solidFill>
              </a:rPr>
              <a:t>Validates bus pass cancellation and zero outstanding transport fee balances.</a:t>
            </a:r>
          </a:p>
          <a:p>
            <a:r>
              <a:rPr b="1" sz="950">
                <a:solidFill>
                  <a:srgbClr val="FFFFFF"/>
                </a:solidFill>
              </a:rPr>
              <a:t>• Department HOD Clearance: </a:t>
            </a:r>
            <a:r>
              <a:rPr sz="950">
                <a:solidFill>
                  <a:srgbClr val="E2E8F0"/>
                </a:solidFill>
              </a:rPr>
              <a:t>Validates lab locker clearance, project equipment return, and seminar sign-off.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Finance &amp; Registrar Final Lock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Financial Balance &amp; Final Sign-Off</a:t>
            </a:r>
          </a:p>
          <a:p>
            <a:r>
              <a:rPr b="1" sz="950">
                <a:solidFill>
                  <a:srgbClr val="FFFFFF"/>
                </a:solidFill>
              </a:rPr>
              <a:t>• Accounts &amp; Finance (Dept 4): </a:t>
            </a:r>
            <a:r>
              <a:rPr sz="950">
                <a:solidFill>
                  <a:srgbClr val="E2E8F0"/>
                </a:solidFill>
              </a:rPr>
              <a:t>Audit of master ledger: tuition fees, hostel fees, fines, and caution deposits.</a:t>
            </a:r>
          </a:p>
          <a:p>
            <a:r>
              <a:rPr b="1" sz="950">
                <a:solidFill>
                  <a:srgbClr val="FFFFFF"/>
                </a:solidFill>
              </a:rPr>
              <a:t>• Caution Deposit Refund: </a:t>
            </a:r>
            <a:r>
              <a:rPr sz="950">
                <a:solidFill>
                  <a:srgbClr val="E2E8F0"/>
                </a:solidFill>
              </a:rPr>
              <a:t>Automated refund voucher generation after netting off assessed damage charges.</a:t>
            </a:r>
          </a:p>
          <a:p>
            <a:r>
              <a:rPr b="1" sz="950">
                <a:solidFill>
                  <a:srgbClr val="FFFFFF"/>
                </a:solidFill>
              </a:rPr>
              <a:t>• Registrar Final Sign-Off (Dept 5): </a:t>
            </a:r>
            <a:r>
              <a:rPr sz="950">
                <a:solidFill>
                  <a:srgbClr val="E2E8F0"/>
                </a:solidFill>
              </a:rPr>
              <a:t>Unlocks TC, Migration Certificate, and final Degree Certificate upon all sign-offs.</a:t>
            </a:r>
          </a:p>
          <a:p>
            <a:r>
              <a:rPr b="1" sz="950">
                <a:solidFill>
                  <a:srgbClr val="FFFFFF"/>
                </a:solidFill>
              </a:rPr>
              <a:t>• Automated Hold Placements: </a:t>
            </a:r>
            <a:r>
              <a:rPr sz="950">
                <a:solidFill>
                  <a:srgbClr val="E2E8F0"/>
                </a:solidFill>
              </a:rPr>
              <a:t>Any departmental rejection immediately blocks certificate generation system-wide.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Course Cancellation / Withdrawal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15-Day Reversible Deactivation</a:t>
            </a:r>
          </a:p>
          <a:p>
            <a:r>
              <a:rPr b="1" sz="950">
                <a:solidFill>
                  <a:srgbClr val="FFFFFF"/>
                </a:solidFill>
              </a:rPr>
              <a:t>• Formal Cancellation Flow: </a:t>
            </a:r>
            <a:r>
              <a:rPr sz="950">
                <a:solidFill>
                  <a:srgbClr val="E2E8F0"/>
                </a:solidFill>
              </a:rPr>
              <a:t>Student raises withdrawal request; requires parent consent and exit interview.</a:t>
            </a:r>
          </a:p>
          <a:p>
            <a:r>
              <a:rPr b="1" sz="950">
                <a:solidFill>
                  <a:srgbClr val="FFFFFF"/>
                </a:solidFill>
              </a:rPr>
              <a:t>• Dean Scrutiny &amp; Comment: </a:t>
            </a:r>
            <a:r>
              <a:rPr sz="950">
                <a:solidFill>
                  <a:srgbClr val="E2E8F0"/>
                </a:solidFill>
              </a:rPr>
              <a:t>Dean reviews justification, discusses retention options, and submits remarks.</a:t>
            </a:r>
          </a:p>
          <a:p>
            <a:r>
              <a:rPr b="1" sz="950">
                <a:solidFill>
                  <a:srgbClr val="FFFFFF"/>
                </a:solidFill>
              </a:rPr>
              <a:t>• Registrar Approval &amp; Grace Period: </a:t>
            </a:r>
            <a:r>
              <a:rPr sz="950">
                <a:solidFill>
                  <a:srgbClr val="E2E8F0"/>
                </a:solidFill>
              </a:rPr>
              <a:t>Approval sets 15-day deactivation grace period during which action is reversible.</a:t>
            </a:r>
          </a:p>
          <a:p>
            <a:r>
              <a:rPr b="1" sz="950">
                <a:solidFill>
                  <a:srgbClr val="FFFFFF"/>
                </a:solidFill>
              </a:rPr>
              <a:t>• Automated Ledger Refund: </a:t>
            </a:r>
            <a:r>
              <a:rPr sz="950">
                <a:solidFill>
                  <a:srgbClr val="E2E8F0"/>
                </a:solidFill>
              </a:rPr>
              <a:t>Pro-rata tuition refund calculated based on UGC cancellation refund schedule.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DEGREE &amp; ALUMNI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Degree Conferral, National Repositories &amp; Alumni Network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Automated convocation gazettes, DigiLocker / APAAR federation, and lifelong alumni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19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Degree Conferral &amp; Convocation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Senate Gazette &amp; Honors</a:t>
            </a:r>
          </a:p>
          <a:p>
            <a:r>
              <a:rPr b="1" sz="950">
                <a:solidFill>
                  <a:srgbClr val="FFFFFF"/>
                </a:solidFill>
              </a:rPr>
              <a:t>• Degree Gazette Publication: </a:t>
            </a:r>
            <a:r>
              <a:rPr sz="950">
                <a:solidFill>
                  <a:srgbClr val="E2E8F0"/>
                </a:solidFill>
              </a:rPr>
              <a:t>Official senate-approved degree gazette with CGPA, division, and honors roll.</a:t>
            </a:r>
          </a:p>
          <a:p>
            <a:r>
              <a:rPr b="1" sz="950">
                <a:solidFill>
                  <a:srgbClr val="FFFFFF"/>
                </a:solidFill>
              </a:rPr>
              <a:t>• Convocation Seating &amp; Tokens: </a:t>
            </a:r>
            <a:r>
              <a:rPr sz="950">
                <a:solidFill>
                  <a:srgbClr val="E2E8F0"/>
                </a:solidFill>
              </a:rPr>
              <a:t>Managing convocation guest registrations, robes issuance, and stage tokens.</a:t>
            </a:r>
          </a:p>
          <a:p>
            <a:r>
              <a:rPr b="1" sz="950">
                <a:solidFill>
                  <a:srgbClr val="FFFFFF"/>
                </a:solidFill>
              </a:rPr>
              <a:t>• Bilingual Certificate Generation: </a:t>
            </a:r>
            <a:r>
              <a:rPr sz="950">
                <a:solidFill>
                  <a:srgbClr val="E2E8F0"/>
                </a:solidFill>
              </a:rPr>
              <a:t>Automated generation of degrees in English and official state/Hindi languages.</a:t>
            </a:r>
          </a:p>
          <a:p>
            <a:r>
              <a:rPr b="1" sz="950">
                <a:solidFill>
                  <a:srgbClr val="FFFFFF"/>
                </a:solidFill>
              </a:rPr>
              <a:t>• Transcript Issuance Portal: </a:t>
            </a:r>
            <a:r>
              <a:rPr sz="950">
                <a:solidFill>
                  <a:srgbClr val="E2E8F0"/>
                </a:solidFill>
              </a:rPr>
              <a:t>Official authenticated transcripts sent directly to overseas universities via WES.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DigiLocker, ABC &amp; APAAR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National Statutory Federation</a:t>
            </a:r>
          </a:p>
          <a:p>
            <a:r>
              <a:rPr b="1" sz="950">
                <a:solidFill>
                  <a:srgbClr val="FFFFFF"/>
                </a:solidFill>
              </a:rPr>
              <a:t>• National Academic Depository (NAD): </a:t>
            </a:r>
            <a:r>
              <a:rPr sz="950">
                <a:solidFill>
                  <a:srgbClr val="E2E8F0"/>
                </a:solidFill>
              </a:rPr>
              <a:t>Direct API sync pushing student degrees to Government of India NAD portal.</a:t>
            </a:r>
          </a:p>
          <a:p>
            <a:r>
              <a:rPr b="1" sz="950">
                <a:solidFill>
                  <a:srgbClr val="FFFFFF"/>
                </a:solidFill>
              </a:rPr>
              <a:t>• DigiLocker Integration: </a:t>
            </a:r>
            <a:r>
              <a:rPr sz="950">
                <a:solidFill>
                  <a:srgbClr val="E2E8F0"/>
                </a:solidFill>
              </a:rPr>
              <a:t>Graduates access verifiable digital certificates instantly via their DigiLocker app.</a:t>
            </a:r>
          </a:p>
          <a:p>
            <a:r>
              <a:rPr b="1" sz="950">
                <a:solidFill>
                  <a:srgbClr val="FFFFFF"/>
                </a:solidFill>
              </a:rPr>
              <a:t>• Academic Bank of Credits (ABC): </a:t>
            </a:r>
            <a:r>
              <a:rPr sz="950">
                <a:solidFill>
                  <a:srgbClr val="E2E8F0"/>
                </a:solidFill>
              </a:rPr>
              <a:t>Automated credit balance push to student APAAR / ABC identity account.</a:t>
            </a:r>
          </a:p>
          <a:p>
            <a:r>
              <a:rPr b="1" sz="950">
                <a:solidFill>
                  <a:srgbClr val="FFFFFF"/>
                </a:solidFill>
              </a:rPr>
              <a:t>• Global Verification API: </a:t>
            </a:r>
            <a:r>
              <a:rPr sz="950">
                <a:solidFill>
                  <a:srgbClr val="E2E8F0"/>
                </a:solidFill>
              </a:rPr>
              <a:t>Authorized background verification agencies query credentials via secure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Lifelong Alumni Network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Endowment &amp; Mentorship Ecosystem</a:t>
            </a:r>
          </a:p>
          <a:p>
            <a:r>
              <a:rPr b="1" sz="950">
                <a:solidFill>
                  <a:srgbClr val="FFFFFF"/>
                </a:solidFill>
              </a:rPr>
              <a:t>• Alumni Directory &amp; Portal: </a:t>
            </a:r>
            <a:r>
              <a:rPr sz="950">
                <a:solidFill>
                  <a:srgbClr val="E2E8F0"/>
                </a:solidFill>
              </a:rPr>
              <a:t>Graduates retain lifelong portal access with personal non-university email logins.</a:t>
            </a:r>
          </a:p>
          <a:p>
            <a:r>
              <a:rPr b="1" sz="950">
                <a:solidFill>
                  <a:srgbClr val="FFFFFF"/>
                </a:solidFill>
              </a:rPr>
              <a:t>• Mentorship &amp; Placement Network: </a:t>
            </a:r>
            <a:r>
              <a:rPr sz="950">
                <a:solidFill>
                  <a:srgbClr val="E2E8F0"/>
                </a:solidFill>
              </a:rPr>
              <a:t>Alumni offer internships, job referrals, and career webinars to current students.</a:t>
            </a:r>
          </a:p>
          <a:p>
            <a:r>
              <a:rPr b="1" sz="950">
                <a:solidFill>
                  <a:srgbClr val="FFFFFF"/>
                </a:solidFill>
              </a:rPr>
              <a:t>• Endowment &amp; Donation Tracking: </a:t>
            </a:r>
            <a:r>
              <a:rPr sz="950">
                <a:solidFill>
                  <a:srgbClr val="E2E8F0"/>
                </a:solidFill>
              </a:rPr>
              <a:t>Fundraising campaigns, scholarship endowments, and 80G tax receipt issuance.</a:t>
            </a:r>
          </a:p>
          <a:p>
            <a:r>
              <a:rPr b="1" sz="950">
                <a:solidFill>
                  <a:srgbClr val="FFFFFF"/>
                </a:solidFill>
              </a:rPr>
              <a:t>• Alumni Chapters &amp; Reunions: </a:t>
            </a:r>
            <a:r>
              <a:rPr sz="950">
                <a:solidFill>
                  <a:srgbClr val="E2E8F0"/>
                </a:solidFill>
              </a:rPr>
              <a:t>Managing regional alumni chapter events, election voting, and newsletters.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ROLE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Master Roles &amp; Permissions Governance: 24 System Roles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Fine-grained role-based access control with effective union evaluation and multi-tenant boundary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20 of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383280"/>
                <a:gridCol w="2316175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Persona Tier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Specific System Roles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Core Governance Scope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Write Boundaries &amp; Guards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Executive Leadership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SuperAdmin, UnivAdmin, InstAdmin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Multi-tenant setup, institutions, campuses, global settings, audit logs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Full Write on respective tenant; SuperAdmin has cross-tenant scope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Academic Leadership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Registrar, COE, Dean, HOD, Faculty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Matriculation, curricula, exam timetables, marks locking, daily attendance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Restricted to assigned Academic Entity; Faculty restricted to active courses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 Finance &amp; Logistics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Finance Head, Accounts Officer, Warden, Transport, Librarian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Fee structures, cashiering, hostel rooms, bus routes, library RFID desk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Finance restricted to ledger; Facilities restricted to asset inventories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 Specialized Officers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Admission Approver, Document Issuer, Results Publisher, QuestionBank Approver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Application scrutiny, canvas certificate printing, exam grading, item curation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Workflow stage restricted; Document Issuer restricted to assigned stock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 Health &amp; Welfare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Campus Doctor, Psychological Counsellor, Welfare Officer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Outpatient clinic EHR, confidential counselling notes, anti-ragging logs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Zero-knowledge encryption for Counsellor; strict medical confidentiality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 End Users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Applicant, Student, Parent, Alumni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Application forms, course registration, fee payment, bus pass, credential verification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Self-scoped only (id == req.user.id); Parent linked to student record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Zero-Trust Security, Multi-Tenant Isolation &amp; Audit Trails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Enterprise-grade defense-in-depth security protecting institutional records and personal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21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Authentication &amp; Tokens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Stateless &amp; Secure Sessions</a:t>
            </a:r>
          </a:p>
          <a:p>
            <a:r>
              <a:rPr b="1" sz="950">
                <a:solidFill>
                  <a:srgbClr val="FFFFFF"/>
                </a:solidFill>
              </a:rPr>
              <a:t>• JWT Stateless Tokens: </a:t>
            </a:r>
            <a:r>
              <a:rPr sz="950">
                <a:solidFill>
                  <a:srgbClr val="E2E8F0"/>
                </a:solidFill>
              </a:rPr>
              <a:t>Short-lived access tokens (15m) paired with HttpOnly refresh tokens.</a:t>
            </a:r>
          </a:p>
          <a:p>
            <a:r>
              <a:rPr b="1" sz="950">
                <a:solidFill>
                  <a:srgbClr val="FFFFFF"/>
                </a:solidFill>
              </a:rPr>
              <a:t>• Argon2id Password Hashing: </a:t>
            </a:r>
            <a:r>
              <a:rPr sz="950">
                <a:solidFill>
                  <a:srgbClr val="E2E8F0"/>
                </a:solidFill>
              </a:rPr>
              <a:t>State-of-the-art cryptographic password hashing resisting GPU cracking.</a:t>
            </a:r>
          </a:p>
          <a:p>
            <a:r>
              <a:rPr b="1" sz="950">
                <a:solidFill>
                  <a:srgbClr val="FFFFFF"/>
                </a:solidFill>
              </a:rPr>
              <a:t>• Session Invalidation Engine: </a:t>
            </a:r>
            <a:r>
              <a:rPr sz="950">
                <a:solidFill>
                  <a:srgbClr val="E2E8F0"/>
                </a:solidFill>
              </a:rPr>
              <a:t>Instant session revocation upon password reset or security compromise.</a:t>
            </a:r>
          </a:p>
          <a:p>
            <a:r>
              <a:rPr b="1" sz="950">
                <a:solidFill>
                  <a:srgbClr val="FFFFFF"/>
                </a:solidFill>
              </a:rPr>
              <a:t>• Brute-Force Rate Limiting: </a:t>
            </a:r>
            <a:r>
              <a:rPr sz="950">
                <a:solidFill>
                  <a:srgbClr val="E2E8F0"/>
                </a:solidFill>
              </a:rPr>
              <a:t>Redis-backed rate limiters on login and OTP verification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Multi-Tenant Isolation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Strict Row-Level Partitioning</a:t>
            </a:r>
          </a:p>
          <a:p>
            <a:r>
              <a:rPr b="1" sz="950">
                <a:solidFill>
                  <a:srgbClr val="FFFFFF"/>
                </a:solidFill>
              </a:rPr>
              <a:t>• Row-Level Tenant Isolation: </a:t>
            </a:r>
            <a:r>
              <a:rPr sz="950">
                <a:solidFill>
                  <a:srgbClr val="E2E8F0"/>
                </a:solidFill>
              </a:rPr>
              <a:t>Tenant and institution IDs injected into every Prisma query execution.</a:t>
            </a:r>
          </a:p>
          <a:p>
            <a:r>
              <a:rPr b="1" sz="950">
                <a:solidFill>
                  <a:srgbClr val="FFFFFF"/>
                </a:solidFill>
              </a:rPr>
              <a:t>• Zero Cross-Tenant Leakage: </a:t>
            </a:r>
            <a:r>
              <a:rPr sz="950">
                <a:solidFill>
                  <a:srgbClr val="E2E8F0"/>
                </a:solidFill>
              </a:rPr>
              <a:t>Strict logical isolation guaranteeing university data privacy.</a:t>
            </a:r>
          </a:p>
          <a:p>
            <a:r>
              <a:rPr b="1" sz="950">
                <a:solidFill>
                  <a:srgbClr val="FFFFFF"/>
                </a:solidFill>
              </a:rPr>
              <a:t>• Granular Module Guards: </a:t>
            </a:r>
            <a:r>
              <a:rPr sz="950">
                <a:solidFill>
                  <a:srgbClr val="E2E8F0"/>
                </a:solidFill>
              </a:rPr>
              <a:t>Requests checked against user's effective roles union (roles.util.ts).</a:t>
            </a:r>
          </a:p>
          <a:p>
            <a:r>
              <a:rPr b="1" sz="950">
                <a:solidFill>
                  <a:srgbClr val="FFFFFF"/>
                </a:solidFill>
              </a:rPr>
              <a:t>• Write Guard Verification: </a:t>
            </a:r>
            <a:r>
              <a:rPr sz="950">
                <a:solidFill>
                  <a:srgbClr val="E2E8F0"/>
                </a:solidFill>
              </a:rPr>
              <a:t>Read-only enforcement during fee freeze or marks lock windows.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Audit Logs &amp; Cryptography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Immutable Accountability</a:t>
            </a:r>
          </a:p>
          <a:p>
            <a:r>
              <a:rPr b="1" sz="950">
                <a:solidFill>
                  <a:srgbClr val="FFFFFF"/>
                </a:solidFill>
              </a:rPr>
              <a:t>• Tamper-Proof Audit Logging: </a:t>
            </a:r>
            <a:r>
              <a:rPr sz="950">
                <a:solidFill>
                  <a:srgbClr val="E2E8F0"/>
                </a:solidFill>
              </a:rPr>
              <a:t>Every mutating HTTP action logged with Actor, IP, User-Agent, and Timestamp.</a:t>
            </a:r>
          </a:p>
          <a:p>
            <a:r>
              <a:rPr b="1" sz="950">
                <a:solidFill>
                  <a:srgbClr val="FFFFFF"/>
                </a:solidFill>
              </a:rPr>
              <a:t>• Before / After Diffs: </a:t>
            </a:r>
            <a:r>
              <a:rPr sz="950">
                <a:solidFill>
                  <a:srgbClr val="E2E8F0"/>
                </a:solidFill>
              </a:rPr>
              <a:t>Deep JSON diffs of database state recorded for all financial and grading changes.</a:t>
            </a:r>
          </a:p>
          <a:p>
            <a:r>
              <a:rPr b="1" sz="950">
                <a:solidFill>
                  <a:srgbClr val="FFFFFF"/>
                </a:solidFill>
              </a:rPr>
              <a:t>• AES-256 Field Encryption: </a:t>
            </a:r>
            <a:r>
              <a:rPr sz="950">
                <a:solidFill>
                  <a:srgbClr val="E2E8F0"/>
                </a:solidFill>
              </a:rPr>
              <a:t>Sensitive counselling notes and payment credentials encrypted at rest.</a:t>
            </a:r>
          </a:p>
          <a:p>
            <a:r>
              <a:rPr b="1" sz="950">
                <a:solidFill>
                  <a:srgbClr val="FFFFFF"/>
                </a:solidFill>
              </a:rPr>
              <a:t>• SOC 2 / ISO 27001 Ready: </a:t>
            </a:r>
            <a:r>
              <a:rPr sz="950">
                <a:solidFill>
                  <a:srgbClr val="E2E8F0"/>
                </a:solidFill>
              </a:rPr>
              <a:t>Audit trails exported for annual enterprise compliance certifications.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INTEGRATIONS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Statutory Gateways &amp; External Integrations Architecture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Seamless integration with national statutory portals, telecom DLT gateways, banking, and IoT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22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51460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1. FinTech: Razorpay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Banking &amp; Payments</a:t>
            </a:r>
          </a:p>
          <a:p>
            <a:r>
              <a:rPr b="1" sz="950">
                <a:solidFill>
                  <a:srgbClr val="FFFFFF"/>
                </a:solidFill>
              </a:rPr>
              <a:t>• Payment Processing: </a:t>
            </a:r>
            <a:r>
              <a:rPr sz="950">
                <a:solidFill>
                  <a:srgbClr val="E2E8F0"/>
                </a:solidFill>
              </a:rPr>
              <a:t>Orders API, Checkout SDK, and Subscriptions.</a:t>
            </a:r>
          </a:p>
          <a:p>
            <a:r>
              <a:rPr b="1" sz="950">
                <a:solidFill>
                  <a:srgbClr val="FFFFFF"/>
                </a:solidFill>
              </a:rPr>
              <a:t>• Webhook Dual Verify: </a:t>
            </a:r>
            <a:r>
              <a:rPr sz="950">
                <a:solidFill>
                  <a:srgbClr val="E2E8F0"/>
                </a:solidFill>
              </a:rPr>
              <a:t>HMAC-SHA256 signature verification on event.</a:t>
            </a:r>
          </a:p>
          <a:p>
            <a:r>
              <a:rPr b="1" sz="950">
                <a:solidFill>
                  <a:srgbClr val="FFFFFF"/>
                </a:solidFill>
              </a:rPr>
              <a:t>• Automated Reconciliation: </a:t>
            </a:r>
            <a:r>
              <a:rPr sz="950">
                <a:solidFill>
                  <a:srgbClr val="E2E8F0"/>
                </a:solidFill>
              </a:rPr>
              <a:t>Server-to-server query confirms bank capture.</a:t>
            </a:r>
          </a:p>
          <a:p>
            <a:r>
              <a:rPr b="1" sz="950">
                <a:solidFill>
                  <a:srgbClr val="FFFFFF"/>
                </a:solidFill>
              </a:rPr>
              <a:t>• Idempotent Transactions: </a:t>
            </a:r>
            <a:r>
              <a:rPr sz="950">
                <a:solidFill>
                  <a:srgbClr val="E2E8F0"/>
                </a:solidFill>
              </a:rPr>
              <a:t>Idempotency key prevents duplicate 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73736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2. Telecom: TRAI DLT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SMS Gateway Engine</a:t>
            </a:r>
          </a:p>
          <a:p>
            <a:r>
              <a:rPr b="1" sz="950">
                <a:solidFill>
                  <a:srgbClr val="FFFFFF"/>
                </a:solidFill>
              </a:rPr>
              <a:t>• TRAI DLT Compliance: </a:t>
            </a:r>
            <a:r>
              <a:rPr sz="950">
                <a:solidFill>
                  <a:srgbClr val="E2E8F0"/>
                </a:solidFill>
              </a:rPr>
              <a:t>Principal Entity ID &amp; Registered Sender IDs.</a:t>
            </a:r>
          </a:p>
          <a:p>
            <a:r>
              <a:rPr b="1" sz="950">
                <a:solidFill>
                  <a:srgbClr val="FFFFFF"/>
                </a:solidFill>
              </a:rPr>
              <a:t>• Approved Templates: </a:t>
            </a:r>
            <a:r>
              <a:rPr sz="950">
                <a:solidFill>
                  <a:srgbClr val="E2E8F0"/>
                </a:solidFill>
              </a:rPr>
              <a:t>DLT approved SMS text with dynamic tokens.</a:t>
            </a:r>
          </a:p>
          <a:p>
            <a:r>
              <a:rPr b="1" sz="950">
                <a:solidFill>
                  <a:srgbClr val="FFFFFF"/>
                </a:solidFill>
              </a:rPr>
              <a:t>• Priority Routing: </a:t>
            </a:r>
            <a:r>
              <a:rPr sz="950">
                <a:solidFill>
                  <a:srgbClr val="E2E8F0"/>
                </a:solidFill>
              </a:rPr>
              <a:t>OTP messages dispatched via transactional route.</a:t>
            </a:r>
          </a:p>
          <a:p>
            <a:r>
              <a:rPr b="1" sz="950">
                <a:solidFill>
                  <a:srgbClr val="FFFFFF"/>
                </a:solidFill>
              </a:rPr>
              <a:t>• Delivery Telemetry: </a:t>
            </a:r>
            <a:r>
              <a:rPr sz="950">
                <a:solidFill>
                  <a:srgbClr val="E2E8F0"/>
                </a:solidFill>
              </a:rPr>
              <a:t>Carrier delivery status logged to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3. National Repositories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DigiLocker &amp; ABC</a:t>
            </a:r>
          </a:p>
          <a:p>
            <a:r>
              <a:rPr b="1" sz="950">
                <a:solidFill>
                  <a:srgbClr val="FFFFFF"/>
                </a:solidFill>
              </a:rPr>
              <a:t>• NAD Push Integration: </a:t>
            </a:r>
            <a:r>
              <a:rPr sz="950">
                <a:solidFill>
                  <a:srgbClr val="E2E8F0"/>
                </a:solidFill>
              </a:rPr>
              <a:t>Conferred degrees pushed to national depository.</a:t>
            </a:r>
          </a:p>
          <a:p>
            <a:r>
              <a:rPr b="1" sz="950">
                <a:solidFill>
                  <a:srgbClr val="FFFFFF"/>
                </a:solidFill>
              </a:rPr>
              <a:t>• DigiLocker Pull API: </a:t>
            </a:r>
            <a:r>
              <a:rPr sz="950">
                <a:solidFill>
                  <a:srgbClr val="E2E8F0"/>
                </a:solidFill>
              </a:rPr>
              <a:t>Graduates fetch official certificates via app.</a:t>
            </a:r>
          </a:p>
          <a:p>
            <a:r>
              <a:rPr b="1" sz="950">
                <a:solidFill>
                  <a:srgbClr val="FFFFFF"/>
                </a:solidFill>
              </a:rPr>
              <a:t>• APAAR / ABC Credits: </a:t>
            </a:r>
            <a:r>
              <a:rPr sz="950">
                <a:solidFill>
                  <a:srgbClr val="E2E8F0"/>
                </a:solidFill>
              </a:rPr>
              <a:t>Student academic credits synced automatically.</a:t>
            </a:r>
          </a:p>
          <a:p>
            <a:r>
              <a:rPr b="1" sz="950">
                <a:solidFill>
                  <a:srgbClr val="FFFFFF"/>
                </a:solidFill>
              </a:rPr>
              <a:t>• XML/JSON Schemas: </a:t>
            </a:r>
            <a:r>
              <a:rPr sz="950">
                <a:solidFill>
                  <a:srgbClr val="E2E8F0"/>
                </a:solidFill>
              </a:rPr>
              <a:t>Conforms to National Academic Exchange norms.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14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73736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74519"/>
            <a:ext cx="218541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4. IoT &amp; Cloud Storage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Hardware &amp; Object Store</a:t>
            </a:r>
          </a:p>
          <a:p>
            <a:r>
              <a:rPr b="1" sz="950">
                <a:solidFill>
                  <a:srgbClr val="FFFFFF"/>
                </a:solidFill>
              </a:rPr>
              <a:t>• Biometric Turnstiles: </a:t>
            </a:r>
            <a:r>
              <a:rPr sz="950">
                <a:solidFill>
                  <a:srgbClr val="E2E8F0"/>
                </a:solidFill>
              </a:rPr>
              <a:t>IoT push gateways for fingerprint and facial gates.</a:t>
            </a:r>
          </a:p>
          <a:p>
            <a:r>
              <a:rPr b="1" sz="950">
                <a:solidFill>
                  <a:srgbClr val="FFFFFF"/>
                </a:solidFill>
              </a:rPr>
              <a:t>• AWS S3 / MinIO Store: </a:t>
            </a:r>
            <a:r>
              <a:rPr sz="950">
                <a:solidFill>
                  <a:srgbClr val="E2E8F0"/>
                </a:solidFill>
              </a:rPr>
              <a:t>Pre-signed URLs for secure document attachments.</a:t>
            </a:r>
          </a:p>
          <a:p>
            <a:r>
              <a:rPr b="1" sz="950">
                <a:solidFill>
                  <a:srgbClr val="FFFFFF"/>
                </a:solidFill>
              </a:rPr>
              <a:t>• GPS Telematics: </a:t>
            </a:r>
            <a:r>
              <a:rPr sz="950">
                <a:solidFill>
                  <a:srgbClr val="E2E8F0"/>
                </a:solidFill>
              </a:rPr>
              <a:t>Transit bus GPS trackers sending coordinates.</a:t>
            </a:r>
          </a:p>
          <a:p>
            <a:r>
              <a:rPr b="1" sz="950">
                <a:solidFill>
                  <a:srgbClr val="FFFFFF"/>
                </a:solidFill>
              </a:rPr>
              <a:t>• RFID Readers: </a:t>
            </a:r>
            <a:r>
              <a:rPr sz="950">
                <a:solidFill>
                  <a:srgbClr val="E2E8F0"/>
                </a:solidFill>
              </a:rPr>
              <a:t>High-frequency RFID readers for library kiosks.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Relational Database Architecture: 138 Models across 10 Clusters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PostgreSQL 16 relational data topology mapped via Prisma ORM with strict referential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23 of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4114800"/>
                <a:gridCol w="2681935"/>
              </a:tblGrid>
              <a:tr h="40732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Functional Cluster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Prisma Models Count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Representative Core Entities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Referential Integrity &amp; Constraints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 Auth &amp; Access Control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12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User, Role, UserRole, Permission, Session, AuditLog, RefreshToken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Cascade deletes on sessions; User soft-delete flags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 Master Structure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 Models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University, Campus, Department, Program, AcademicYear, Term, Batch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Strict hierarchical foreign keys (Univ -&gt; Campus -&gt; Dept)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 Admissions &amp; Leads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15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Lead, Application, AdmissionQuota, MeritList, ScrutinyRecord, SeatMatrix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Unique constraints on ApplicationNumber and Email/Phone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 Academics &amp; Timetable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20 Models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Course, CourseVersion, Prerequisite, Timetable, TimetableSlot, Attendance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Unique slot constraints preventing room &amp; faculty collisions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 Examinations &amp; CBE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18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ExamSchedule, AdmitCard, AnonymousCode, CIAMark, Question, CBEAttempt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Immutable marks once locked; AnonymousCode salted mapping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 Fees &amp; Financial Ops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16 Models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FeeStructure, FeeHead, Invoice, Payment, TransactionLedger, Refund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Double-entry balance verification; zero negative balances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7. Campus Logistics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15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HostelBlock, Room, Bed, GatePass, BusRoute, Vehicle, Book, BorrowRecord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Bed occupancy status machine; RFID accession unique indexes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 HR &amp; Faculty Leaves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12 Models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StaffProfile, StaffShift, LeaveBalance, LeaveRequest, ProxyArrangement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Leave deduction atomic transactions; shift overlap checks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9. Health &amp; Welfare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ClinicVisit, Prescription, CounsellingCase, MentorshipCohort, Grievance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AES-256 encrypted confidential notes; zero foreign key leaks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10. Documents &amp; Forms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10 Models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DocumentTemplate, CertificateStock, DynamicForm, FormResponse, DltTemplate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Pre-printed serial number unique index; stock damaged audits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Backend API Architecture: 71 Controllers across 43 Modules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NestJS enterprise service catalog with standard REST verbs, class-validator DTOs, and OpenAPI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24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Design Standards &amp; Contracts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Predictable RESTful Endpoints</a:t>
            </a:r>
          </a:p>
          <a:p>
            <a:r>
              <a:rPr b="1" sz="950">
                <a:solidFill>
                  <a:srgbClr val="FFFFFF"/>
                </a:solidFill>
              </a:rPr>
              <a:t>• Standard RESTful Verbs: </a:t>
            </a:r>
            <a:r>
              <a:rPr sz="950">
                <a:solidFill>
                  <a:srgbClr val="E2E8F0"/>
                </a:solidFill>
              </a:rPr>
              <a:t>Uniform resource endpoints: GET (query), POST (create), PUT/PATCH (update), DELETE.</a:t>
            </a:r>
          </a:p>
          <a:p>
            <a:r>
              <a:rPr b="1" sz="950">
                <a:solidFill>
                  <a:srgbClr val="FFFFFF"/>
                </a:solidFill>
              </a:rPr>
              <a:t>• Strict DTO Validation: </a:t>
            </a:r>
            <a:r>
              <a:rPr sz="950">
                <a:solidFill>
                  <a:srgbClr val="E2E8F0"/>
                </a:solidFill>
              </a:rPr>
              <a:t>Every incoming payload validated by NestJS ValidationPipe using class-validator.</a:t>
            </a:r>
          </a:p>
          <a:p>
            <a:r>
              <a:rPr b="1" sz="950">
                <a:solidFill>
                  <a:srgbClr val="FFFFFF"/>
                </a:solidFill>
              </a:rPr>
              <a:t>• OpenAPI / Swagger 3.0: </a:t>
            </a:r>
            <a:r>
              <a:rPr sz="950">
                <a:solidFill>
                  <a:srgbClr val="E2E8F0"/>
                </a:solidFill>
              </a:rPr>
              <a:t>Complete interactive API documentation generated automatically at /api/docs.</a:t>
            </a:r>
          </a:p>
          <a:p>
            <a:r>
              <a:rPr b="1" sz="950">
                <a:solidFill>
                  <a:srgbClr val="FFFFFF"/>
                </a:solidFill>
              </a:rPr>
              <a:t>• Idempotency Keys: </a:t>
            </a:r>
            <a:r>
              <a:rPr sz="950">
                <a:solidFill>
                  <a:srgbClr val="E2E8F0"/>
                </a:solidFill>
              </a:rPr>
              <a:t>Financial and registration endpoints enforce UUID idempotency keys to prevent repeats.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Service &amp; Business Logic Layer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Modular Monolith Architecture</a:t>
            </a:r>
          </a:p>
          <a:p>
            <a:r>
              <a:rPr b="1" sz="950">
                <a:solidFill>
                  <a:srgbClr val="FFFFFF"/>
                </a:solidFill>
              </a:rPr>
              <a:t>• Decoupled NestJS Modules: </a:t>
            </a:r>
            <a:r>
              <a:rPr sz="950">
                <a:solidFill>
                  <a:srgbClr val="E2E8F0"/>
                </a:solidFill>
              </a:rPr>
              <a:t>43 isolated modules ensuring clean separation of concerns and maintainability.</a:t>
            </a:r>
          </a:p>
          <a:p>
            <a:r>
              <a:rPr b="1" sz="950">
                <a:solidFill>
                  <a:srgbClr val="FFFFFF"/>
                </a:solidFill>
              </a:rPr>
              <a:t>• Dependency Injection (DI): </a:t>
            </a:r>
            <a:r>
              <a:rPr sz="950">
                <a:solidFill>
                  <a:srgbClr val="E2E8F0"/>
                </a:solidFill>
              </a:rPr>
              <a:t>Service layers injected via DI tokens, enabling painless unit and e2e testing.</a:t>
            </a:r>
          </a:p>
          <a:p>
            <a:r>
              <a:rPr b="1" sz="950">
                <a:solidFill>
                  <a:srgbClr val="FFFFFF"/>
                </a:solidFill>
              </a:rPr>
              <a:t>• Database Transaction Boundaries: </a:t>
            </a:r>
            <a:r>
              <a:rPr sz="950">
                <a:solidFill>
                  <a:srgbClr val="E2E8F0"/>
                </a:solidFill>
              </a:rPr>
              <a:t>All multi-table mutations wrapped in atomic prisma.$transaction blocks.</a:t>
            </a:r>
          </a:p>
          <a:p>
            <a:r>
              <a:rPr b="1" sz="950">
                <a:solidFill>
                  <a:srgbClr val="FFFFFF"/>
                </a:solidFill>
              </a:rPr>
              <a:t>• Event-Driven Side Effects: </a:t>
            </a:r>
            <a:r>
              <a:rPr sz="950">
                <a:solidFill>
                  <a:srgbClr val="E2E8F0"/>
                </a:solidFill>
              </a:rPr>
              <a:t>Asynchronous events trigger DLT SMS, emails, and audit logs without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Resilience &amp; Cross-Cutting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Filters, Interceptors &amp; Telemetry</a:t>
            </a:r>
          </a:p>
          <a:p>
            <a:r>
              <a:rPr b="1" sz="950">
                <a:solidFill>
                  <a:srgbClr val="FFFFFF"/>
                </a:solidFill>
              </a:rPr>
              <a:t>• Unified Exception Filter: </a:t>
            </a:r>
            <a:r>
              <a:rPr sz="950">
                <a:solidFill>
                  <a:srgbClr val="E2E8F0"/>
                </a:solidFill>
              </a:rPr>
              <a:t>Standard error envelope { statusCode, message, timestamp, path } across all errors.</a:t>
            </a:r>
          </a:p>
          <a:p>
            <a:r>
              <a:rPr b="1" sz="950">
                <a:solidFill>
                  <a:srgbClr val="FFFFFF"/>
                </a:solidFill>
              </a:rPr>
              <a:t>• Response Serialization: </a:t>
            </a:r>
            <a:r>
              <a:rPr sz="950">
                <a:solidFill>
                  <a:srgbClr val="E2E8F0"/>
                </a:solidFill>
              </a:rPr>
              <a:t>Interceptors strip out internal database fields and password hashes before return.</a:t>
            </a:r>
          </a:p>
          <a:p>
            <a:r>
              <a:rPr b="1" sz="950">
                <a:solidFill>
                  <a:srgbClr val="FFFFFF"/>
                </a:solidFill>
              </a:rPr>
              <a:t>• Performance Telemetry: </a:t>
            </a:r>
            <a:r>
              <a:rPr sz="950">
                <a:solidFill>
                  <a:srgbClr val="E2E8F0"/>
                </a:solidFill>
              </a:rPr>
              <a:t>Logging interceptor records execution duration (ms) for slow query optimization.</a:t>
            </a:r>
          </a:p>
          <a:p>
            <a:r>
              <a:rPr b="1" sz="950">
                <a:solidFill>
                  <a:srgbClr val="FFFFFF"/>
                </a:solidFill>
              </a:rPr>
              <a:t>• Rate Limiting Throttler: </a:t>
            </a:r>
            <a:r>
              <a:rPr sz="950">
                <a:solidFill>
                  <a:srgbClr val="E2E8F0"/>
                </a:solidFill>
              </a:rPr>
              <a:t>DDoS mitigation and IP-based request throttling on public endpoints.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Frontend Architecture &amp; User Experience: 49 React Pages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Modern React 18 single-page application engineered for high-density academic operations and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25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Core Architecture &amp; Routing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Single-Page Application (SPA)</a:t>
            </a:r>
          </a:p>
          <a:p>
            <a:r>
              <a:rPr b="1" sz="950">
                <a:solidFill>
                  <a:srgbClr val="FFFFFF"/>
                </a:solidFill>
              </a:rPr>
              <a:t>• React 18 &amp; Vite Tooling: </a:t>
            </a:r>
            <a:r>
              <a:rPr sz="950">
                <a:solidFill>
                  <a:srgbClr val="E2E8F0"/>
                </a:solidFill>
              </a:rPr>
              <a:t>Sub-second hot module replacement (HMR) and lightning-fast production bundles.</a:t>
            </a:r>
          </a:p>
          <a:p>
            <a:r>
              <a:rPr b="1" sz="950">
                <a:solidFill>
                  <a:srgbClr val="FFFFFF"/>
                </a:solidFill>
              </a:rPr>
              <a:t>• Dynamic Breadcrumb Routing: </a:t>
            </a:r>
            <a:r>
              <a:rPr sz="950">
                <a:solidFill>
                  <a:srgbClr val="E2E8F0"/>
                </a:solidFill>
              </a:rPr>
              <a:t>React Router v6 with hierarchical pathing reflecting academic structures.</a:t>
            </a:r>
          </a:p>
          <a:p>
            <a:r>
              <a:rPr b="1" sz="950">
                <a:solidFill>
                  <a:srgbClr val="FFFFFF"/>
                </a:solidFill>
              </a:rPr>
              <a:t>• Role-Scoped Navigation: </a:t>
            </a:r>
            <a:r>
              <a:rPr sz="950">
                <a:solidFill>
                  <a:srgbClr val="E2E8F0"/>
                </a:solidFill>
              </a:rPr>
              <a:t>Sidebar menus dynamically rendered based on user's active permissions union.</a:t>
            </a:r>
          </a:p>
          <a:p>
            <a:r>
              <a:rPr b="1" sz="950">
                <a:solidFill>
                  <a:srgbClr val="FFFFFF"/>
                </a:solidFill>
              </a:rPr>
              <a:t>• Responsive Layout Engine: </a:t>
            </a:r>
            <a:r>
              <a:rPr sz="950">
                <a:solidFill>
                  <a:srgbClr val="E2E8F0"/>
                </a:solidFill>
              </a:rPr>
              <a:t>Tailwind CSS responsive design supporting high-res desktops, laptops, and tablets.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Specialized UI Engines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Academic Tools</a:t>
            </a:r>
          </a:p>
          <a:p>
            <a:r>
              <a:rPr b="1" sz="950">
                <a:solidFill>
                  <a:srgbClr val="FFFFFF"/>
                </a:solidFill>
              </a:rPr>
              <a:t>• Canvas Document Designer: </a:t>
            </a:r>
            <a:r>
              <a:rPr sz="950">
                <a:solidFill>
                  <a:srgbClr val="E2E8F0"/>
                </a:solidFill>
              </a:rPr>
              <a:t>Visual drag-and-drop certificate layout engine with real-time vector preview.</a:t>
            </a:r>
          </a:p>
          <a:p>
            <a:r>
              <a:rPr b="1" sz="950">
                <a:solidFill>
                  <a:srgbClr val="FFFFFF"/>
                </a:solidFill>
              </a:rPr>
              <a:t>• Interactive Seat Matrix: </a:t>
            </a:r>
            <a:r>
              <a:rPr sz="950">
                <a:solidFill>
                  <a:srgbClr val="E2E8F0"/>
                </a:solidFill>
              </a:rPr>
              <a:t>Live quota capacity grids with instant XLSX/PDF export and batch row filters.</a:t>
            </a:r>
          </a:p>
          <a:p>
            <a:r>
              <a:rPr b="1" sz="950">
                <a:solidFill>
                  <a:srgbClr val="FFFFFF"/>
                </a:solidFill>
              </a:rPr>
              <a:t>• Page-Level Gear Modals: </a:t>
            </a:r>
            <a:r>
              <a:rPr sz="950">
                <a:solidFill>
                  <a:srgbClr val="E2E8F0"/>
                </a:solidFill>
              </a:rPr>
              <a:t>Dedicated modal configuration gear (e.g. Fees page gateway settings).</a:t>
            </a:r>
          </a:p>
          <a:p>
            <a:r>
              <a:rPr b="1" sz="950">
                <a:solidFill>
                  <a:srgbClr val="FFFFFF"/>
                </a:solidFill>
              </a:rPr>
              <a:t>• Drag-and-Drop Timetable: </a:t>
            </a:r>
            <a:r>
              <a:rPr sz="950">
                <a:solidFill>
                  <a:srgbClr val="E2E8F0"/>
                </a:solidFill>
              </a:rPr>
              <a:t>Visual slot allocation matrix with collision prevention and teacher load gauges.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Performance &amp; Micro-Interactions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Snappy Institutional Operations</a:t>
            </a:r>
          </a:p>
          <a:p>
            <a:r>
              <a:rPr b="1" sz="950">
                <a:solidFill>
                  <a:srgbClr val="FFFFFF"/>
                </a:solidFill>
              </a:rPr>
              <a:t>• Optimistic UI Updates: </a:t>
            </a:r>
            <a:r>
              <a:rPr sz="950">
                <a:solidFill>
                  <a:srgbClr val="E2E8F0"/>
                </a:solidFill>
              </a:rPr>
              <a:t>Immediate visual feedback on status changes with background rollback on failure.</a:t>
            </a:r>
          </a:p>
          <a:p>
            <a:r>
              <a:rPr b="1" sz="950">
                <a:solidFill>
                  <a:srgbClr val="FFFFFF"/>
                </a:solidFill>
              </a:rPr>
              <a:t>• Accessible Data Tables: </a:t>
            </a:r>
            <a:r>
              <a:rPr sz="950">
                <a:solidFill>
                  <a:srgbClr val="E2E8F0"/>
                </a:solidFill>
              </a:rPr>
              <a:t>Client/server pagination (5/10/20/50 rows), multi-column sorting, and filters.</a:t>
            </a:r>
          </a:p>
          <a:p>
            <a:r>
              <a:rPr b="1" sz="950">
                <a:solidFill>
                  <a:srgbClr val="FFFFFF"/>
                </a:solidFill>
              </a:rPr>
              <a:t>• Toast Feedback System: </a:t>
            </a:r>
            <a:r>
              <a:rPr sz="950">
                <a:solidFill>
                  <a:srgbClr val="E2E8F0"/>
                </a:solidFill>
              </a:rPr>
              <a:t>Non-intrusive green/red/amber toast alerts for all mutating actions.</a:t>
            </a:r>
          </a:p>
          <a:p>
            <a:r>
              <a:rPr b="1" sz="950">
                <a:solidFill>
                  <a:srgbClr val="FFFFFF"/>
                </a:solidFill>
              </a:rPr>
              <a:t>• Zero Client Memory Leaks: </a:t>
            </a:r>
            <a:r>
              <a:rPr sz="950">
                <a:solidFill>
                  <a:srgbClr val="E2E8F0"/>
                </a:solidFill>
              </a:rPr>
              <a:t>Strict cleanup in useEffect hooks and memoized calculations with useMemo.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DATA MIGRATION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Enterprise Data Migration &amp; Bulk Ingestion Engine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Strict 10-level topological dependency graph (DAG) and 4-way field dictionary ensuring zero foreign key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26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10-Level Topological DAG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Foreign Key Violations</a:t>
            </a:r>
          </a:p>
          <a:p>
            <a:r>
              <a:rPr b="1" sz="950">
                <a:solidFill>
                  <a:srgbClr val="FFFFFF"/>
                </a:solidFill>
              </a:rPr>
              <a:t>• Level 1-2: Foundation: </a:t>
            </a:r>
            <a:r>
              <a:rPr sz="950">
                <a:solidFill>
                  <a:srgbClr val="E2E8F0"/>
                </a:solidFill>
              </a:rPr>
              <a:t>Academic Years, Campuses, Departments, Faculties.</a:t>
            </a:r>
          </a:p>
          <a:p>
            <a:r>
              <a:rPr b="1" sz="950">
                <a:solidFill>
                  <a:srgbClr val="FFFFFF"/>
                </a:solidFill>
              </a:rPr>
              <a:t>• Level 3-4: Curricular Structure: </a:t>
            </a:r>
            <a:r>
              <a:rPr sz="950">
                <a:solidFill>
                  <a:srgbClr val="E2E8F0"/>
                </a:solidFill>
              </a:rPr>
              <a:t>Degree Programs, Semesters, Course Master, Fee Heads.</a:t>
            </a:r>
          </a:p>
          <a:p>
            <a:r>
              <a:rPr b="1" sz="950">
                <a:solidFill>
                  <a:srgbClr val="FFFFFF"/>
                </a:solidFill>
              </a:rPr>
              <a:t>• Level 5-6: Personnel &amp; Cohorts: </a:t>
            </a:r>
            <a:r>
              <a:rPr sz="950">
                <a:solidFill>
                  <a:srgbClr val="E2E8F0"/>
                </a:solidFill>
              </a:rPr>
              <a:t>Staff Master, Batches, Sections, Fee Structures.</a:t>
            </a:r>
          </a:p>
          <a:p>
            <a:r>
              <a:rPr b="1" sz="950">
                <a:solidFill>
                  <a:srgbClr val="FFFFFF"/>
                </a:solidFill>
              </a:rPr>
              <a:t>• Level 7-8: Students &amp; Invoicing: </a:t>
            </a:r>
            <a:r>
              <a:rPr sz="950">
                <a:solidFill>
                  <a:srgbClr val="E2E8F0"/>
                </a:solidFill>
              </a:rPr>
              <a:t>Student Profiles, Parent Links, Term Invoices.</a:t>
            </a:r>
          </a:p>
          <a:p>
            <a:r>
              <a:rPr b="1" sz="950">
                <a:solidFill>
                  <a:srgbClr val="FFFFFF"/>
                </a:solidFill>
              </a:rPr>
              <a:t>• Level 9-10: Academic Execution: </a:t>
            </a:r>
            <a:r>
              <a:rPr sz="950">
                <a:solidFill>
                  <a:srgbClr val="E2E8F0"/>
                </a:solidFill>
              </a:rPr>
              <a:t>Course Enrollments, Timetable Slots, Historical 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Bulk Ingestion &amp; Validation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Quality Gates</a:t>
            </a:r>
          </a:p>
          <a:p>
            <a:r>
              <a:rPr b="1" sz="950">
                <a:solidFill>
                  <a:srgbClr val="FFFFFF"/>
                </a:solidFill>
              </a:rPr>
              <a:t>• Pre-Formatted CSV/XLSX Schemas: </a:t>
            </a:r>
            <a:r>
              <a:rPr sz="950">
                <a:solidFill>
                  <a:srgbClr val="E2E8F0"/>
                </a:solidFill>
              </a:rPr>
              <a:t>Standardized downloadable templates with column data types and examples.</a:t>
            </a:r>
          </a:p>
          <a:p>
            <a:r>
              <a:rPr b="1" sz="950">
                <a:solidFill>
                  <a:srgbClr val="FFFFFF"/>
                </a:solidFill>
              </a:rPr>
              <a:t>• Staging Buffer Tables: </a:t>
            </a:r>
            <a:r>
              <a:rPr sz="950">
                <a:solidFill>
                  <a:srgbClr val="E2E8F0"/>
                </a:solidFill>
              </a:rPr>
              <a:t>Incoming data loaded into staging tables for validation before production insertion.</a:t>
            </a:r>
          </a:p>
          <a:p>
            <a:r>
              <a:rPr b="1" sz="950">
                <a:solidFill>
                  <a:srgbClr val="FFFFFF"/>
                </a:solidFill>
              </a:rPr>
              <a:t>• Dry-Run Validation Engine: </a:t>
            </a:r>
            <a:r>
              <a:rPr sz="950">
                <a:solidFill>
                  <a:srgbClr val="E2E8F0"/>
                </a:solidFill>
              </a:rPr>
              <a:t>Identifies duplicate emails, invalid phone formats, and missing prerequisites.</a:t>
            </a:r>
          </a:p>
          <a:p>
            <a:r>
              <a:rPr b="1" sz="950">
                <a:solidFill>
                  <a:srgbClr val="FFFFFF"/>
                </a:solidFill>
              </a:rPr>
              <a:t>• Detailed Error Reports: </a:t>
            </a:r>
            <a:r>
              <a:rPr sz="950">
                <a:solidFill>
                  <a:srgbClr val="E2E8F0"/>
                </a:solidFill>
              </a:rPr>
              <a:t>Generates downloadable error spreadsheets highlighting exact row and column faults.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4-Way Field Mapping Dictionary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Universal Field Rosetta Stone</a:t>
            </a:r>
          </a:p>
          <a:p>
            <a:r>
              <a:rPr b="1" sz="950">
                <a:solidFill>
                  <a:srgbClr val="FFFFFF"/>
                </a:solidFill>
              </a:rPr>
              <a:t>• Legacy CSV Column: </a:t>
            </a:r>
            <a:r>
              <a:rPr sz="950">
                <a:solidFill>
                  <a:srgbClr val="E2E8F0"/>
                </a:solidFill>
              </a:rPr>
              <a:t>Maps legacy database column headers (e.g. STUD_DOB, ENR_NUM).</a:t>
            </a:r>
          </a:p>
          <a:p>
            <a:r>
              <a:rPr b="1" sz="950">
                <a:solidFill>
                  <a:srgbClr val="FFFFFF"/>
                </a:solidFill>
              </a:rPr>
              <a:t>• Admin UI Input Field: </a:t>
            </a:r>
            <a:r>
              <a:rPr sz="950">
                <a:solidFill>
                  <a:srgbClr val="E2E8F0"/>
                </a:solidFill>
              </a:rPr>
              <a:t>Maps corresponding field on React administrative portal forms.</a:t>
            </a:r>
          </a:p>
          <a:p>
            <a:r>
              <a:rPr b="1" sz="950">
                <a:solidFill>
                  <a:srgbClr val="FFFFFF"/>
                </a:solidFill>
              </a:rPr>
              <a:t>• Backend API DTO: </a:t>
            </a:r>
            <a:r>
              <a:rPr sz="950">
                <a:solidFill>
                  <a:srgbClr val="E2E8F0"/>
                </a:solidFill>
              </a:rPr>
              <a:t>Maps TypeScript validation DTO property with type decorators.</a:t>
            </a:r>
          </a:p>
          <a:p>
            <a:r>
              <a:rPr b="1" sz="950">
                <a:solidFill>
                  <a:srgbClr val="FFFFFF"/>
                </a:solidFill>
              </a:rPr>
              <a:t>• Prisma Database Column: </a:t>
            </a:r>
            <a:r>
              <a:rPr sz="950">
                <a:solidFill>
                  <a:srgbClr val="E2E8F0"/>
                </a:solidFill>
              </a:rPr>
              <a:t>Maps target PostgreSQL column name and relational foreign key.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GO-LIVE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30-Day Institutional Cutover &amp; Go-Live Playbook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Proven enterprise implementation methodology ensuring smooth cutover, operational readiness, and zero downtime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27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T-30 to T-5: Preparation &amp; UAT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Data Cleansing &amp; Role Training</a:t>
            </a:r>
          </a:p>
          <a:p>
            <a:r>
              <a:rPr b="1" sz="950">
                <a:solidFill>
                  <a:srgbClr val="FFFFFF"/>
                </a:solidFill>
              </a:rPr>
              <a:t>• T-30 to T-20: Data Audit: </a:t>
            </a:r>
            <a:r>
              <a:rPr sz="950">
                <a:solidFill>
                  <a:srgbClr val="E2E8F0"/>
                </a:solidFill>
              </a:rPr>
              <a:t>Extracting legacy datasets, resolving orphan records, standardizing student records.</a:t>
            </a:r>
          </a:p>
          <a:p>
            <a:r>
              <a:rPr b="1" sz="950">
                <a:solidFill>
                  <a:srgbClr val="FFFFFF"/>
                </a:solidFill>
              </a:rPr>
              <a:t>• T-19 to T-15: Pilot Dry Run: </a:t>
            </a:r>
            <a:r>
              <a:rPr sz="950">
                <a:solidFill>
                  <a:srgbClr val="E2E8F0"/>
                </a:solidFill>
              </a:rPr>
              <a:t>Executing full 10-level DAG ingestion into Staging environment for verification.</a:t>
            </a:r>
          </a:p>
          <a:p>
            <a:r>
              <a:rPr b="1" sz="950">
                <a:solidFill>
                  <a:srgbClr val="FFFFFF"/>
                </a:solidFill>
              </a:rPr>
              <a:t>• T-14 to T-10: End-to-End Testing: </a:t>
            </a:r>
            <a:r>
              <a:rPr sz="950">
                <a:solidFill>
                  <a:srgbClr val="E2E8F0"/>
                </a:solidFill>
              </a:rPr>
              <a:t>Stakeholder user acceptance testing (UAT) across Admissions, Fees, and Exams.</a:t>
            </a:r>
          </a:p>
          <a:p>
            <a:r>
              <a:rPr b="1" sz="950">
                <a:solidFill>
                  <a:srgbClr val="FFFFFF"/>
                </a:solidFill>
              </a:rPr>
              <a:t>• T-9 to T-5: Role-Based Training: </a:t>
            </a:r>
            <a:r>
              <a:rPr sz="950">
                <a:solidFill>
                  <a:srgbClr val="E2E8F0"/>
                </a:solidFill>
              </a:rPr>
              <a:t>Hands-on workshop training for Deans, HODs, Cashiers, Wardens, and Faculty.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Cutover Weekend Timeline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Hour-by-Hour Execution Plan</a:t>
            </a:r>
          </a:p>
          <a:p>
            <a:r>
              <a:rPr b="1" sz="950">
                <a:solidFill>
                  <a:srgbClr val="FFFFFF"/>
                </a:solidFill>
              </a:rPr>
              <a:t>• Friday 18:00 (Freeze): </a:t>
            </a:r>
            <a:r>
              <a:rPr sz="950">
                <a:solidFill>
                  <a:srgbClr val="E2E8F0"/>
                </a:solidFill>
              </a:rPr>
              <a:t>Legacy ERP placed in read-only mode; final database snapshot taken.</a:t>
            </a:r>
          </a:p>
          <a:p>
            <a:r>
              <a:rPr b="1" sz="950">
                <a:solidFill>
                  <a:srgbClr val="FFFFFF"/>
                </a:solidFill>
              </a:rPr>
              <a:t>• Saturday 06:00 (Delta Load): </a:t>
            </a:r>
            <a:r>
              <a:rPr sz="950">
                <a:solidFill>
                  <a:srgbClr val="E2E8F0"/>
                </a:solidFill>
              </a:rPr>
              <a:t>Automated delta ETL script ingests recent transactions into UniversityERP.</a:t>
            </a:r>
          </a:p>
          <a:p>
            <a:r>
              <a:rPr b="1" sz="950">
                <a:solidFill>
                  <a:srgbClr val="FFFFFF"/>
                </a:solidFill>
              </a:rPr>
              <a:t>• Saturday 18:00 (Audit Recon): </a:t>
            </a:r>
            <a:r>
              <a:rPr sz="950">
                <a:solidFill>
                  <a:srgbClr val="E2E8F0"/>
                </a:solidFill>
              </a:rPr>
              <a:t>Finance Head and Registrar sign off on ledger balance and student enrollments.</a:t>
            </a:r>
          </a:p>
          <a:p>
            <a:r>
              <a:rPr b="1" sz="950">
                <a:solidFill>
                  <a:srgbClr val="FFFFFF"/>
                </a:solidFill>
              </a:rPr>
              <a:t>• Sunday 12:00 (DNS Switch): </a:t>
            </a:r>
            <a:r>
              <a:rPr sz="950">
                <a:solidFill>
                  <a:srgbClr val="E2E8F0"/>
                </a:solidFill>
              </a:rPr>
              <a:t>Domain routing switched to production cluster; health checks validated.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T+1 to T+7: Stabilization &amp; Sign-Off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War Room &amp; Steady State</a:t>
            </a:r>
          </a:p>
          <a:p>
            <a:r>
              <a:rPr b="1" sz="950">
                <a:solidFill>
                  <a:srgbClr val="FFFFFF"/>
                </a:solidFill>
              </a:rPr>
              <a:t>• Day 1: On-Site War Room: </a:t>
            </a:r>
            <a:r>
              <a:rPr sz="950">
                <a:solidFill>
                  <a:srgbClr val="E2E8F0"/>
                </a:solidFill>
              </a:rPr>
              <a:t>Dedicated architecture and support engineers on campus assisting staff.</a:t>
            </a:r>
          </a:p>
          <a:p>
            <a:r>
              <a:rPr b="1" sz="950">
                <a:solidFill>
                  <a:srgbClr val="FFFFFF"/>
                </a:solidFill>
              </a:rPr>
              <a:t>• Dual-Running Reconciliation: </a:t>
            </a:r>
            <a:r>
              <a:rPr sz="950">
                <a:solidFill>
                  <a:srgbClr val="E2E8F0"/>
                </a:solidFill>
              </a:rPr>
              <a:t>Daily cross-checks between bank deposits and cashiering collections.</a:t>
            </a:r>
          </a:p>
          <a:p>
            <a:r>
              <a:rPr b="1" sz="950">
                <a:solidFill>
                  <a:srgbClr val="FFFFFF"/>
                </a:solidFill>
              </a:rPr>
              <a:t>• T+7: Final Acceptance: </a:t>
            </a:r>
            <a:r>
              <a:rPr sz="950">
                <a:solidFill>
                  <a:srgbClr val="E2E8F0"/>
                </a:solidFill>
              </a:rPr>
              <a:t>Steering committee formal sign-off; legacy ERP servers decommissioned.</a:t>
            </a:r>
          </a:p>
          <a:p>
            <a:r>
              <a:rPr b="1" sz="950">
                <a:solidFill>
                  <a:srgbClr val="FFFFFF"/>
                </a:solidFill>
              </a:rPr>
              <a:t>• Emergency Rollback Plan: </a:t>
            </a:r>
            <a:r>
              <a:rPr sz="950">
                <a:solidFill>
                  <a:srgbClr val="E2E8F0"/>
                </a:solidFill>
              </a:rPr>
              <a:t>Pre-tested fallback runbook in case of critical unrecoverable failure.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Accreditation Intelligence &amp; Statutory Compliance (NAAC, NBA, NEP)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Built-in compliance automation providing quantitative evidence for NAAC SSR, NBA OBE, and NIRF rankings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28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National Education Policy (NEP 2020)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Curricular Flexibility &amp; Credits</a:t>
            </a:r>
          </a:p>
          <a:p>
            <a:r>
              <a:rPr b="1" sz="950">
                <a:solidFill>
                  <a:srgbClr val="FFFFFF"/>
                </a:solidFill>
              </a:rPr>
              <a:t>• Multiple Entry / Exit Points: </a:t>
            </a:r>
            <a:r>
              <a:rPr sz="950">
                <a:solidFill>
                  <a:srgbClr val="E2E8F0"/>
                </a:solidFill>
              </a:rPr>
              <a:t>Certificates (Year 1), Diplomas (Year 2), Degrees (Year 3), Honors (Year 4).</a:t>
            </a:r>
          </a:p>
          <a:p>
            <a:r>
              <a:rPr b="1" sz="950">
                <a:solidFill>
                  <a:srgbClr val="FFFFFF"/>
                </a:solidFill>
              </a:rPr>
              <a:t>• Academic Bank of Credits (ABC): </a:t>
            </a:r>
            <a:r>
              <a:rPr sz="950">
                <a:solidFill>
                  <a:srgbClr val="E2E8F0"/>
                </a:solidFill>
              </a:rPr>
              <a:t>Automated credit logging and seamless credit transfer across institutions.</a:t>
            </a:r>
          </a:p>
          <a:p>
            <a:r>
              <a:rPr b="1" sz="950">
                <a:solidFill>
                  <a:srgbClr val="FFFFFF"/>
                </a:solidFill>
              </a:rPr>
              <a:t>• Multi-Disciplinary Curricula: </a:t>
            </a:r>
            <a:r>
              <a:rPr sz="950">
                <a:solidFill>
                  <a:srgbClr val="E2E8F0"/>
                </a:solidFill>
              </a:rPr>
              <a:t>Support for major/minor tracks, vocational training, and internship credits.</a:t>
            </a:r>
          </a:p>
          <a:p>
            <a:r>
              <a:rPr b="1" sz="950">
                <a:solidFill>
                  <a:srgbClr val="FFFFFF"/>
                </a:solidFill>
              </a:rPr>
              <a:t>• Indian Knowledge Systems (IKS): </a:t>
            </a:r>
            <a:r>
              <a:rPr sz="950">
                <a:solidFill>
                  <a:srgbClr val="E2E8F0"/>
                </a:solidFill>
              </a:rPr>
              <a:t>Categorization of indigenous knowledge courses and community engagement.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NAAC SSR Accreditation Suite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Criteria 1-7 Automated Metrics</a:t>
            </a:r>
          </a:p>
          <a:p>
            <a:r>
              <a:rPr b="1" sz="950">
                <a:solidFill>
                  <a:srgbClr val="FFFFFF"/>
                </a:solidFill>
              </a:rPr>
              <a:t>• Criteria 1-7 Evidence Engine: </a:t>
            </a:r>
            <a:r>
              <a:rPr sz="950">
                <a:solidFill>
                  <a:srgbClr val="E2E8F0"/>
                </a:solidFill>
              </a:rPr>
              <a:t>Automated aggregation of student data, teaching loads, and infrastructure.</a:t>
            </a:r>
          </a:p>
          <a:p>
            <a:r>
              <a:rPr b="1" sz="950">
                <a:solidFill>
                  <a:srgbClr val="FFFFFF"/>
                </a:solidFill>
              </a:rPr>
              <a:t>• Criterion 2: Teaching-Learning: </a:t>
            </a:r>
            <a:r>
              <a:rPr sz="950">
                <a:solidFill>
                  <a:srgbClr val="E2E8F0"/>
                </a:solidFill>
              </a:rPr>
              <a:t>Real-time calculation of student-to-faculty ratios, mentor ratios, and pass rates.</a:t>
            </a:r>
          </a:p>
          <a:p>
            <a:r>
              <a:rPr b="1" sz="950">
                <a:solidFill>
                  <a:srgbClr val="FFFFFF"/>
                </a:solidFill>
              </a:rPr>
              <a:t>• Criterion 5: Student Support: </a:t>
            </a:r>
            <a:r>
              <a:rPr sz="950">
                <a:solidFill>
                  <a:srgbClr val="E2E8F0"/>
                </a:solidFill>
              </a:rPr>
              <a:t>Automated tracking of scholarships, competitive exam coaching, and placements.</a:t>
            </a:r>
          </a:p>
          <a:p>
            <a:r>
              <a:rPr b="1" sz="950">
                <a:solidFill>
                  <a:srgbClr val="FFFFFF"/>
                </a:solidFill>
              </a:rPr>
              <a:t>• One-Click SSR Metric Export: </a:t>
            </a:r>
            <a:r>
              <a:rPr sz="950">
                <a:solidFill>
                  <a:srgbClr val="E2E8F0"/>
                </a:solidFill>
              </a:rPr>
              <a:t>Generates quantitative Excel spreadsheets strictly conforming to NAAC portal.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NBA Accreditation &amp; OBE Attainment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CO-PO Attainment Calculation</a:t>
            </a:r>
          </a:p>
          <a:p>
            <a:r>
              <a:rPr b="1" sz="950">
                <a:solidFill>
                  <a:srgbClr val="FFFFFF"/>
                </a:solidFill>
              </a:rPr>
              <a:t>• Outcome-Based Education (OBE): </a:t>
            </a:r>
            <a:r>
              <a:rPr sz="950">
                <a:solidFill>
                  <a:srgbClr val="E2E8F0"/>
                </a:solidFill>
              </a:rPr>
              <a:t>Mapping Course Outcomes (COs) to Program Outcomes (POs) and PSOs.</a:t>
            </a:r>
          </a:p>
          <a:p>
            <a:r>
              <a:rPr b="1" sz="950">
                <a:solidFill>
                  <a:srgbClr val="FFFFFF"/>
                </a:solidFill>
              </a:rPr>
              <a:t>• Direct Attainment Engine: </a:t>
            </a:r>
            <a:r>
              <a:rPr sz="950">
                <a:solidFill>
                  <a:srgbClr val="E2E8F0"/>
                </a:solidFill>
              </a:rPr>
              <a:t>Calculates attainment thresholds from internal tests, quizzes, and end-sem exams.</a:t>
            </a:r>
          </a:p>
          <a:p>
            <a:r>
              <a:rPr b="1" sz="950">
                <a:solidFill>
                  <a:srgbClr val="FFFFFF"/>
                </a:solidFill>
              </a:rPr>
              <a:t>• Indirect Attainment Surveys: </a:t>
            </a:r>
            <a:r>
              <a:rPr sz="950">
                <a:solidFill>
                  <a:srgbClr val="E2E8F0"/>
                </a:solidFill>
              </a:rPr>
              <a:t>Course-end surveys and graduate exit surveys feeding into indirect attainment.</a:t>
            </a:r>
          </a:p>
          <a:p>
            <a:r>
              <a:rPr b="1" sz="950">
                <a:solidFill>
                  <a:srgbClr val="FFFFFF"/>
                </a:solidFill>
              </a:rPr>
              <a:t>• Continuous Quality Improvement: </a:t>
            </a:r>
            <a:r>
              <a:rPr sz="950">
                <a:solidFill>
                  <a:srgbClr val="E2E8F0"/>
                </a:solidFill>
              </a:rPr>
              <a:t>Automated gap analysis reports for department curriculum review boards.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EXECUTIVE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Institutional Analytics &amp; Executive Cockpit (Module 14)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Real-time decision intelligence for Chancellors, Vice-Chancellors, Trustees, and Academic Deans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29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Executive KPI Cockpit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Top-Level Institutional Health</a:t>
            </a:r>
          </a:p>
          <a:p>
            <a:r>
              <a:rPr b="1" sz="950">
                <a:solidFill>
                  <a:srgbClr val="FFFFFF"/>
                </a:solidFill>
              </a:rPr>
              <a:t>• Chancellor / VC Cockpit: </a:t>
            </a:r>
            <a:r>
              <a:rPr sz="950">
                <a:solidFill>
                  <a:srgbClr val="E2E8F0"/>
                </a:solidFill>
              </a:rPr>
              <a:t>High-level visual summary of total enrollment, revenue collection, and pass rates.</a:t>
            </a:r>
          </a:p>
          <a:p>
            <a:r>
              <a:rPr b="1" sz="950">
                <a:solidFill>
                  <a:srgbClr val="FFFFFF"/>
                </a:solidFill>
              </a:rPr>
              <a:t>• Admissions Conversion Funnel: </a:t>
            </a:r>
            <a:r>
              <a:rPr sz="950">
                <a:solidFill>
                  <a:srgbClr val="E2E8F0"/>
                </a:solidFill>
              </a:rPr>
              <a:t>Real-time tracking of leads -&gt; applications -&gt; scrutinies -&gt; paid enrollments.</a:t>
            </a:r>
          </a:p>
          <a:p>
            <a:r>
              <a:rPr b="1" sz="950">
                <a:solidFill>
                  <a:srgbClr val="FFFFFF"/>
                </a:solidFill>
              </a:rPr>
              <a:t>• Fee Collection Velocity: </a:t>
            </a:r>
            <a:r>
              <a:rPr sz="950">
                <a:solidFill>
                  <a:srgbClr val="E2E8F0"/>
                </a:solidFill>
              </a:rPr>
              <a:t>Daily collection rates compared against target schedules and past fiscal years.</a:t>
            </a:r>
          </a:p>
          <a:p>
            <a:r>
              <a:rPr b="1" sz="950">
                <a:solidFill>
                  <a:srgbClr val="FFFFFF"/>
                </a:solidFill>
              </a:rPr>
              <a:t>• Seat Utilization Heatmap: </a:t>
            </a:r>
            <a:r>
              <a:rPr sz="950">
                <a:solidFill>
                  <a:srgbClr val="E2E8F0"/>
                </a:solidFill>
              </a:rPr>
              <a:t>Branch-wise seat filling percentage highlighting under-subscribed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Comparative Academic Analytics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Campus &amp; Department Performance</a:t>
            </a:r>
          </a:p>
          <a:p>
            <a:r>
              <a:rPr b="1" sz="950">
                <a:solidFill>
                  <a:srgbClr val="FFFFFF"/>
                </a:solidFill>
              </a:rPr>
              <a:t>• Multi-Campus Benchmarking: </a:t>
            </a:r>
            <a:r>
              <a:rPr sz="950">
                <a:solidFill>
                  <a:srgbClr val="E2E8F0"/>
                </a:solidFill>
              </a:rPr>
              <a:t>Compare academic performance, attendance, and revenue across campus sites.</a:t>
            </a:r>
          </a:p>
          <a:p>
            <a:r>
              <a:rPr b="1" sz="950">
                <a:solidFill>
                  <a:srgbClr val="FFFFFF"/>
                </a:solidFill>
              </a:rPr>
              <a:t>• Departmental Scorecards: </a:t>
            </a:r>
            <a:r>
              <a:rPr sz="950">
                <a:solidFill>
                  <a:srgbClr val="E2E8F0"/>
                </a:solidFill>
              </a:rPr>
              <a:t>Faculty research output, student satisfaction ratings, and budget utilization.</a:t>
            </a:r>
          </a:p>
          <a:p>
            <a:r>
              <a:rPr b="1" sz="950">
                <a:solidFill>
                  <a:srgbClr val="FFFFFF"/>
                </a:solidFill>
              </a:rPr>
              <a:t>• Course Pass Rate Outliers: </a:t>
            </a:r>
            <a:r>
              <a:rPr sz="950">
                <a:solidFill>
                  <a:srgbClr val="E2E8F0"/>
                </a:solidFill>
              </a:rPr>
              <a:t>Automated anomaly detection flagging abnormally high failure or scoring rates.</a:t>
            </a:r>
          </a:p>
          <a:p>
            <a:r>
              <a:rPr b="1" sz="950">
                <a:solidFill>
                  <a:srgbClr val="FFFFFF"/>
                </a:solidFill>
              </a:rPr>
              <a:t>• Placement Analytics: </a:t>
            </a:r>
            <a:r>
              <a:rPr sz="950">
                <a:solidFill>
                  <a:srgbClr val="E2E8F0"/>
                </a:solidFill>
              </a:rPr>
              <a:t>Tracking placement offers, average salary packages, and top corporate recruiters.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Arial"/>
              </a:defRPr>
            </a:pPr>
            <a:r>
              <a:t>Predictive Alerts &amp; Forecasting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Proactive Institutional Strategy</a:t>
            </a:r>
          </a:p>
          <a:p>
            <a:r>
              <a:rPr b="1" sz="950">
                <a:solidFill>
                  <a:srgbClr val="FFFFFF"/>
                </a:solidFill>
              </a:rPr>
              <a:t>• Student Dropout Early Warning: </a:t>
            </a:r>
            <a:r>
              <a:rPr sz="950">
                <a:solidFill>
                  <a:srgbClr val="E2E8F0"/>
                </a:solidFill>
              </a:rPr>
              <a:t>Machine learning heuristic identifying students with low attendance and marks.</a:t>
            </a:r>
          </a:p>
          <a:p>
            <a:r>
              <a:rPr b="1" sz="950">
                <a:solidFill>
                  <a:srgbClr val="FFFFFF"/>
                </a:solidFill>
              </a:rPr>
              <a:t>• Revenue Forecasting: </a:t>
            </a:r>
            <a:r>
              <a:rPr sz="950">
                <a:solidFill>
                  <a:srgbClr val="E2E8F0"/>
                </a:solidFill>
              </a:rPr>
              <a:t>Predictive cash-flow modeling based on upcoming semester installments and arrears.</a:t>
            </a:r>
          </a:p>
          <a:p>
            <a:r>
              <a:rPr b="1" sz="950">
                <a:solidFill>
                  <a:srgbClr val="FFFFFF"/>
                </a:solidFill>
              </a:rPr>
              <a:t>• Hostel &amp; Transport Utilization: </a:t>
            </a:r>
            <a:r>
              <a:rPr sz="950">
                <a:solidFill>
                  <a:srgbClr val="E2E8F0"/>
                </a:solidFill>
              </a:rPr>
              <a:t>Optimizing vehicle routes and hostel rooms based on occupancy trends.</a:t>
            </a:r>
          </a:p>
          <a:p>
            <a:r>
              <a:rPr b="1" sz="950">
                <a:solidFill>
                  <a:srgbClr val="FFFFFF"/>
                </a:solidFill>
              </a:rPr>
              <a:t>• Automated Board Reports: </a:t>
            </a:r>
            <a:r>
              <a:rPr sz="950">
                <a:solidFill>
                  <a:srgbClr val="E2E8F0"/>
                </a:solidFill>
              </a:rPr>
              <a:t>Scheduled PDF digest generation emailed weekly to University Board of Trustees.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INFRASTRUCTURE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Disaster Recovery, High Availability &amp; Enterprise SLA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Zero single-point-of-failure infrastructure with multi-AZ replication, point-in-time recovery, and 99.95% 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30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High-Availability Architecture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Single-Point-of-Failure</a:t>
            </a:r>
          </a:p>
          <a:p>
            <a:r>
              <a:rPr b="1" sz="950">
                <a:solidFill>
                  <a:srgbClr val="FFFFFF"/>
                </a:solidFill>
              </a:rPr>
              <a:t>• Stateless NestJS Containers: </a:t>
            </a:r>
            <a:r>
              <a:rPr sz="950">
                <a:solidFill>
                  <a:srgbClr val="E2E8F0"/>
                </a:solidFill>
              </a:rPr>
              <a:t>API service runs in Docker containers behind an auto-scaling load balancer.</a:t>
            </a:r>
          </a:p>
          <a:p>
            <a:r>
              <a:rPr b="1" sz="950">
                <a:solidFill>
                  <a:srgbClr val="FFFFFF"/>
                </a:solidFill>
              </a:rPr>
              <a:t>• Multi-AZ PostgreSQL Replication: </a:t>
            </a:r>
            <a:r>
              <a:rPr sz="950">
                <a:solidFill>
                  <a:srgbClr val="E2E8F0"/>
                </a:solidFill>
              </a:rPr>
              <a:t>Primary-standby database topology spanning multiple availability zones.</a:t>
            </a:r>
          </a:p>
          <a:p>
            <a:r>
              <a:rPr b="1" sz="950">
                <a:solidFill>
                  <a:srgbClr val="FFFFFF"/>
                </a:solidFill>
              </a:rPr>
              <a:t>• Redis Sentinel Caching: </a:t>
            </a:r>
            <a:r>
              <a:rPr sz="950">
                <a:solidFill>
                  <a:srgbClr val="E2E8F0"/>
                </a:solidFill>
              </a:rPr>
              <a:t>In-memory cache with automatic master failover ensuring continuous availability.</a:t>
            </a:r>
          </a:p>
          <a:p>
            <a:r>
              <a:rPr b="1" sz="950">
                <a:solidFill>
                  <a:srgbClr val="FFFFFF"/>
                </a:solidFill>
              </a:rPr>
              <a:t>• Object Storage Redundancy: </a:t>
            </a:r>
            <a:r>
              <a:rPr sz="950">
                <a:solidFill>
                  <a:srgbClr val="E2E8F0"/>
                </a:solidFill>
              </a:rPr>
              <a:t>S3 multi-region replication ensuring 99.999999999% durability of student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Arial"/>
              </a:defRPr>
            </a:pPr>
            <a:r>
              <a:t>Disaster Recovery &amp; PITR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RPO &lt; 5 Min | RTO &lt; 15 Min</a:t>
            </a:r>
          </a:p>
          <a:p>
            <a:r>
              <a:rPr b="1" sz="950">
                <a:solidFill>
                  <a:srgbClr val="FFFFFF"/>
                </a:solidFill>
              </a:rPr>
              <a:t>• Continuous WAL Archiving: </a:t>
            </a:r>
            <a:r>
              <a:rPr sz="950">
                <a:solidFill>
                  <a:srgbClr val="E2E8F0"/>
                </a:solidFill>
              </a:rPr>
              <a:t>Write-Ahead Log (WAL) archiving enabling Point-In-Time Recovery (PITR).</a:t>
            </a:r>
          </a:p>
          <a:p>
            <a:r>
              <a:rPr b="1" sz="950">
                <a:solidFill>
                  <a:srgbClr val="FFFFFF"/>
                </a:solidFill>
              </a:rPr>
              <a:t>• Recovery Point Objective (RPO): </a:t>
            </a:r>
            <a:r>
              <a:rPr sz="950">
                <a:solidFill>
                  <a:srgbClr val="E2E8F0"/>
                </a:solidFill>
              </a:rPr>
              <a:t>RPO &lt; 5 Minutes: Maximum allowable data loss in catastrophic disaster.</a:t>
            </a:r>
          </a:p>
          <a:p>
            <a:r>
              <a:rPr b="1" sz="950">
                <a:solidFill>
                  <a:srgbClr val="FFFFFF"/>
                </a:solidFill>
              </a:rPr>
              <a:t>• Recovery Time Objective (RTO): </a:t>
            </a:r>
            <a:r>
              <a:rPr sz="950">
                <a:solidFill>
                  <a:srgbClr val="E2E8F0"/>
                </a:solidFill>
              </a:rPr>
              <a:t>RTO &lt; 15 Minutes: Automated failover recovers full service within 15 minutes.</a:t>
            </a:r>
          </a:p>
          <a:p>
            <a:r>
              <a:rPr b="1" sz="950">
                <a:solidFill>
                  <a:srgbClr val="FFFFFF"/>
                </a:solidFill>
              </a:rPr>
              <a:t>• Automated Daily Off-Site Backups: </a:t>
            </a:r>
            <a:r>
              <a:rPr sz="950">
                <a:solidFill>
                  <a:srgbClr val="E2E8F0"/>
                </a:solidFill>
              </a:rPr>
              <a:t>Encrypted daily database dumps transferred to isolated cold cloud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Enterprise SLA &amp; Monitoring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99.95% SLA &amp; 24/7 Telemetry</a:t>
            </a:r>
          </a:p>
          <a:p>
            <a:r>
              <a:rPr b="1" sz="950">
                <a:solidFill>
                  <a:srgbClr val="FFFFFF"/>
                </a:solidFill>
              </a:rPr>
              <a:t>• 99.95% Uptime Guarantee: </a:t>
            </a:r>
            <a:r>
              <a:rPr sz="950">
                <a:solidFill>
                  <a:srgbClr val="E2E8F0"/>
                </a:solidFill>
              </a:rPr>
              <a:t>Financially backed enterprise availability SLA excluding scheduled maintenance.</a:t>
            </a:r>
          </a:p>
          <a:p>
            <a:r>
              <a:rPr b="1" sz="950">
                <a:solidFill>
                  <a:srgbClr val="FFFFFF"/>
                </a:solidFill>
              </a:rPr>
              <a:t>• DDoS &amp; WAF Protection: </a:t>
            </a:r>
            <a:r>
              <a:rPr sz="950">
                <a:solidFill>
                  <a:srgbClr val="E2E8F0"/>
                </a:solidFill>
              </a:rPr>
              <a:t>Cloudflare enterprise web application firewall filtering malicious traffic.</a:t>
            </a:r>
          </a:p>
          <a:p>
            <a:r>
              <a:rPr b="1" sz="950">
                <a:solidFill>
                  <a:srgbClr val="FFFFFF"/>
                </a:solidFill>
              </a:rPr>
              <a:t>• Real-Time APM Telemetry: </a:t>
            </a:r>
            <a:r>
              <a:rPr sz="950">
                <a:solidFill>
                  <a:srgbClr val="E2E8F0"/>
                </a:solidFill>
              </a:rPr>
              <a:t>Prometheus and Grafana dashboards monitoring CPU, memory, and query latencies.</a:t>
            </a:r>
          </a:p>
          <a:p>
            <a:r>
              <a:rPr b="1" sz="950">
                <a:solidFill>
                  <a:srgbClr val="FFFFFF"/>
                </a:solidFill>
              </a:rPr>
              <a:t>• 24/7 Incident Escalation: </a:t>
            </a:r>
            <a:r>
              <a:rPr sz="950">
                <a:solidFill>
                  <a:srgbClr val="E2E8F0"/>
                </a:solidFill>
              </a:rPr>
              <a:t>Automated PagerDuty alerts dispatched to on-call infrastructure engineers.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FINANCIAL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Total Cost of Ownership (TCO) &amp; Strategic ROI Analysis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Delivering 60% lower TCO and 100% elimination of revenue leakage compared to legacy Tier-1 ERP suites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31 of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926080"/>
                <a:gridCol w="2773375"/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Evaluation 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Legacy ERP Suites (SAP / Banner)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UniversityERP Modern Platform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Institutional Benefit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Upfront Licensing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Extremely expensive per-core / per-user license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Predictable institutional SaaS / self-hosted model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65% lower initial capital expenditure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Implementation Timeline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12 to 24 Months complex consulting project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30-Day automated cutover with proven DAG tools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4x faster time-to-value and deployment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Customization &amp; Flexibility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Proprietary code (ABAP/PL-SQL), expensive consultants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Modern TypeScript, NestJS, React, Prisma stack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In-house team easily manages customizations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Leakage Elimination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Frequent leakage due to disconnected billing &amp; cashiering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Dual-verify Razorpay gateway + double-entry ledger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100% fee recovery and zero cash leakage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&amp; Manual Operations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Extensive physical paperwork, paper forms, registers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100% paperless digital workflows with DLT SMS alerts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90% reduction in paper and printing costs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Accreditation Preparation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 to 6 months of manual spreadsheet compilation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Real-time SSR Criteria 1-7 and OBE attainment export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Accreditation readiness at all times with zero stress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STRATEGIC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Strategic Vision, Enterprise Roadmap &amp; Next Steps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Empowering universities with autonomous digital operations, AI-assisted learning, and global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UniversityERP Platform | 20-Year Principal Enterprise Architect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&amp; Enterprise Architecture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32 of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832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1. Phased Deployment Roadmap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Structured 4-Month Rollout</a:t>
            </a:r>
          </a:p>
          <a:p>
            <a:r>
              <a:rPr b="1" sz="950">
                <a:solidFill>
                  <a:srgbClr val="FFFFFF"/>
                </a:solidFill>
              </a:rPr>
              <a:t>• Phase 1: Core Deployment (Month 1): </a:t>
            </a:r>
            <a:r>
              <a:rPr sz="950">
                <a:solidFill>
                  <a:srgbClr val="E2E8F0"/>
                </a:solidFill>
              </a:rPr>
              <a:t>Data migration, Auth, Master Structure, Admissions, Fees, and Academics.</a:t>
            </a:r>
          </a:p>
          <a:p>
            <a:r>
              <a:rPr b="1" sz="950">
                <a:solidFill>
                  <a:srgbClr val="FFFFFF"/>
                </a:solidFill>
              </a:rPr>
              <a:t>• Phase 2: Academic &amp; Exams (Month 2): </a:t>
            </a:r>
            <a:r>
              <a:rPr sz="950">
                <a:solidFill>
                  <a:srgbClr val="E2E8F0"/>
                </a:solidFill>
              </a:rPr>
              <a:t>Timetables, Biometric Attendance, Exam Scheduling, COE Anonymous Codes.</a:t>
            </a:r>
          </a:p>
          <a:p>
            <a:r>
              <a:rPr b="1" sz="950">
                <a:solidFill>
                  <a:srgbClr val="FFFFFF"/>
                </a:solidFill>
              </a:rPr>
              <a:t>• Phase 3: Facilities &amp; Logistics (Month 3): </a:t>
            </a:r>
            <a:r>
              <a:rPr sz="950">
                <a:solidFill>
                  <a:srgbClr val="E2E8F0"/>
                </a:solidFill>
              </a:rPr>
              <a:t>Hostel matrix, Fleet GPS transit, RFID Library, and Health Clinic.</a:t>
            </a:r>
          </a:p>
          <a:p>
            <a:r>
              <a:rPr b="1" sz="950">
                <a:solidFill>
                  <a:srgbClr val="FFFFFF"/>
                </a:solidFill>
              </a:rPr>
              <a:t>• Phase 4: Analytics &amp; Full Rollout (Month 4): </a:t>
            </a:r>
            <a:r>
              <a:rPr sz="950">
                <a:solidFill>
                  <a:srgbClr val="E2E8F0"/>
                </a:solidFill>
              </a:rPr>
              <a:t>Executive Cockpit, NAAC SSR exporter, and Alumni Network go-live.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A855F7"/>
                </a:solidFill>
                <a:latin typeface="Arial"/>
              </a:defRPr>
            </a:pPr>
            <a:r>
              <a:t>2. Next-Generation AI Horizons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Artificial Intelligence in Higher Ed</a:t>
            </a:r>
          </a:p>
          <a:p>
            <a:r>
              <a:rPr b="1" sz="950">
                <a:solidFill>
                  <a:srgbClr val="FFFFFF"/>
                </a:solidFill>
              </a:rPr>
              <a:t>• AI Academic Advisor: </a:t>
            </a:r>
            <a:r>
              <a:rPr sz="950">
                <a:solidFill>
                  <a:srgbClr val="E2E8F0"/>
                </a:solidFill>
              </a:rPr>
              <a:t>Generative AI assistant recommending personalized course electives to students.</a:t>
            </a:r>
          </a:p>
          <a:p>
            <a:r>
              <a:rPr b="1" sz="950">
                <a:solidFill>
                  <a:srgbClr val="FFFFFF"/>
                </a:solidFill>
              </a:rPr>
              <a:t>• Automated Timetable AI: </a:t>
            </a:r>
            <a:r>
              <a:rPr sz="950">
                <a:solidFill>
                  <a:srgbClr val="E2E8F0"/>
                </a:solidFill>
              </a:rPr>
              <a:t>Genetic algorithm optimization for campus-wide complex multi-track scheduling.</a:t>
            </a:r>
          </a:p>
          <a:p>
            <a:r>
              <a:rPr b="1" sz="950">
                <a:solidFill>
                  <a:srgbClr val="FFFFFF"/>
                </a:solidFill>
              </a:rPr>
              <a:t>• Smart Proctoring ML: </a:t>
            </a:r>
            <a:r>
              <a:rPr sz="950">
                <a:solidFill>
                  <a:srgbClr val="E2E8F0"/>
                </a:solidFill>
              </a:rPr>
              <a:t>Edge-based computer vision detecting candidate gaze and suspicious movements.</a:t>
            </a:r>
          </a:p>
          <a:p>
            <a:r>
              <a:rPr b="1" sz="950">
                <a:solidFill>
                  <a:srgbClr val="FFFFFF"/>
                </a:solidFill>
              </a:rPr>
              <a:t>• Conversational Helpdesk: </a:t>
            </a:r>
            <a:r>
              <a:rPr sz="950">
                <a:solidFill>
                  <a:srgbClr val="E2E8F0"/>
                </a:solidFill>
              </a:rPr>
              <a:t>24/7 student service chatbot handling fee, grade, and gate-pass inquiries.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054096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3. Recommended Immediate Action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Path to Partnership &amp; Go-Live</a:t>
            </a:r>
          </a:p>
          <a:p>
            <a:r>
              <a:rPr b="1" sz="950">
                <a:solidFill>
                  <a:srgbClr val="FFFFFF"/>
                </a:solidFill>
              </a:rPr>
              <a:t>• Executive Demonstration: </a:t>
            </a:r>
            <a:r>
              <a:rPr sz="950">
                <a:solidFill>
                  <a:srgbClr val="E2E8F0"/>
                </a:solidFill>
              </a:rPr>
              <a:t>Tailored sandbox walkthrough for Chancellor, Vice-Chancellor, and Trustees.</a:t>
            </a:r>
          </a:p>
          <a:p>
            <a:r>
              <a:rPr b="1" sz="950">
                <a:solidFill>
                  <a:srgbClr val="FFFFFF"/>
                </a:solidFill>
              </a:rPr>
              <a:t>• Technical Architecture Sign-Off: </a:t>
            </a:r>
            <a:r>
              <a:rPr sz="950">
                <a:solidFill>
                  <a:srgbClr val="E2E8F0"/>
                </a:solidFill>
              </a:rPr>
              <a:t>Enterprise IT review of database schema, API security, and network topology.</a:t>
            </a:r>
          </a:p>
          <a:p>
            <a:r>
              <a:rPr b="1" sz="950">
                <a:solidFill>
                  <a:srgbClr val="FFFFFF"/>
                </a:solidFill>
              </a:rPr>
              <a:t>• Data Migration Workshop: </a:t>
            </a:r>
            <a:r>
              <a:rPr sz="950">
                <a:solidFill>
                  <a:srgbClr val="E2E8F0"/>
                </a:solidFill>
              </a:rPr>
              <a:t>Hands-on data mapping session utilizing the 10-level DAG templates.</a:t>
            </a:r>
          </a:p>
          <a:p>
            <a:r>
              <a:rPr b="1" sz="950">
                <a:solidFill>
                  <a:srgbClr val="FFFFFF"/>
                </a:solidFill>
              </a:rPr>
              <a:t>• Formal Engagement Kick-Off: </a:t>
            </a:r>
            <a:r>
              <a:rPr sz="950">
                <a:solidFill>
                  <a:srgbClr val="E2E8F0"/>
                </a:solidFill>
              </a:rPr>
              <a:t>Finalizing project charter, SLA agreements, and dedicated engineering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